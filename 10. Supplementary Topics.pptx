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6" r:id="rId3"/>
    <p:sldId id="330" r:id="rId4"/>
    <p:sldId id="342" r:id="rId5"/>
    <p:sldId id="352" r:id="rId6"/>
    <p:sldId id="3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0. Supplementary Topics" id="{3B36864A-9BB1-4795-92A6-9D0C35FDE7C9}">
          <p14:sldIdLst>
            <p14:sldId id="266"/>
            <p14:sldId id="330"/>
            <p14:sldId id="342"/>
            <p14:sldId id="352"/>
            <p14:sldId id="361"/>
          </p14:sldIdLst>
        </p14:section>
        <p14:section name="Default Section" id="{1F33623C-C93D-428B-B77D-17D5D9E2F87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2F4C2-61A0-040B-8B3A-E52B99118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006BA-5342-850D-10D3-FCE11DF4C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BCD68-909E-004F-481E-2B0E4A4B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3D09-9B10-4024-914E-4B541B980D7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50B19-1141-FC89-C3C6-C12F516B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6220A-A3B8-F3DA-6823-6F053460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58C3-D23A-4FA6-A02B-856533D3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2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BCB7A-B8FE-A096-FB09-1FD1851F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0FDD-9AA6-ABEC-60C5-87A47DE4E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BBE2D-E43C-46A2-057C-2A93E793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3D09-9B10-4024-914E-4B541B980D7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C787B-3E94-7C0C-0D87-81E04E10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88C04-94E2-9AA6-E1F9-E63C68C3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58C3-D23A-4FA6-A02B-856533D3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29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3059-7B2D-7A5E-6E87-E17190D77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FA6CA-7A2A-80DA-9E50-029C98064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705F7-C110-8029-90B6-3C8CF0B65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3D09-9B10-4024-914E-4B541B980D7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28B3C-1C5E-51F6-E7A6-8DF800F7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EC124-34C6-2A5D-A3C5-63A8ABAA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58C3-D23A-4FA6-A02B-856533D3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7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1903-61F3-4470-D421-83DF42B1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4A173-6D8A-1F28-0EE9-E4E796017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319D3-CAA4-7359-A9AD-A42C0B12C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9C5D9-BF2C-34E2-DEED-A0DB2A7E4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3D09-9B10-4024-914E-4B541B980D7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1DB3F-06E2-05C2-84F8-C9547C107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F10B7-5C27-F024-5F2A-14FCCA1A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58C3-D23A-4FA6-A02B-856533D3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03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40D64-F04B-A5FB-0025-56D9ADA1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64360-29C5-07F3-9BF9-A68C0DD9A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0E97C-EB83-B560-92CD-F549A165B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9B774-3837-FCF6-5059-2B9194F00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E1508-14CA-F6BC-64B8-CB1294D6E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41B125-1F3F-721F-5D45-3EFBD7A6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3D09-9B10-4024-914E-4B541B980D7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B15104-7554-A1D2-FDD1-7E236403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88CA6-D9C0-BF63-7547-E5AEBE649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58C3-D23A-4FA6-A02B-856533D3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CA27-3CA5-4CEE-F75C-A7566AF3A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9F455-9259-511F-4785-103383DA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3D09-9B10-4024-914E-4B541B980D7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B5B9F-F4E7-792B-6ADC-C4DE9B6AB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96F01-980B-5E80-5F2E-196FAA84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58C3-D23A-4FA6-A02B-856533D3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3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0E5B4-D1D1-703E-8F36-D1CC76C76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3D09-9B10-4024-914E-4B541B980D7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E4DE3-B00C-9D51-A109-FBCBE518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415D6-D542-F029-4945-47BCAB08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58C3-D23A-4FA6-A02B-856533D3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B0489-4C3E-27CF-A475-3CBBDDE9B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D847C-A928-6AA4-3026-5C6D385DE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40765-DD60-8B7A-8095-1B8C8BAEC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FA83-108C-EE8B-12DF-6F644AF8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3D09-9B10-4024-914E-4B541B980D7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0E72F-7FF4-9994-85B0-633D9215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B045D-D84C-9904-D99A-7162BA79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58C3-D23A-4FA6-A02B-856533D3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2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748DA-A170-7DD3-ECAD-BF8A4404D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AD9876-5DBE-3038-2940-CF9FDC09B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8077C-BE2A-8F80-B515-555054B51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D33F6-165E-665C-880F-BF3A5F19F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3D09-9B10-4024-914E-4B541B980D7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0AEE4-BA7F-17D5-5D5A-84AF3D1CB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E18CF-0953-5B80-A56C-75DE225C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58C3-D23A-4FA6-A02B-856533D3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6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FC6E2-795A-78E1-A04C-F99E6709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E3F6D-6792-2744-2A93-70DA52BC3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281E1-3A42-9616-9949-88EC43A75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3D09-9B10-4024-914E-4B541B980D7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6F9BF-E641-F21A-CE5A-557F32EB6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21A61-FD62-39D7-5EBE-AD945FAD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58C3-D23A-4FA6-A02B-856533D3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54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B59F15-96B0-22D4-3F04-B2996F44C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D0663-8A15-F4D7-DBB5-0BD176922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6DE32-4B41-5E68-B404-0F63B3D2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3D09-9B10-4024-914E-4B541B980D7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30AC6-708B-50CF-68A9-B89D8D30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B61F5-AF95-1DAC-5CC1-802E9FAB1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58C3-D23A-4FA6-A02B-856533D3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22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438C-8B49-D8A5-994C-FBD73405C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0F479-EC1D-D796-CDA7-C681C7374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1CDF-40A4-E48C-6671-8C935D58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1A27C-4551-4478-9B75-254A3A54CD18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29515-B0CB-CEFA-2CE0-B29B8089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C336-A8F4-33AB-9754-78685F28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35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F6F6-2405-E2E0-8AA8-E5D075C6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6CFF-4267-FDD1-1FCC-FB14F4B47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EEBC3-E222-8D42-6275-A3C862D5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BD44-8273-4EEB-9B8C-1475E996FC43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47962-01DD-5635-4781-D2705A2A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D4FF-8514-42E2-C489-8A48A848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25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E4CF-2C81-37F5-C521-1A7C42C8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25691-C1A7-B81B-5D2F-AAF745DB7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52D73-BAFD-2C7E-43A7-48F0EC67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27B8-4A44-4604-8C88-654A7DC17CBA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BDD6-65E2-981C-B052-0AC26962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8C0D6-029A-041D-4079-517F668F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96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9F95-6A91-AECD-39C9-5BD50231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B418-B63E-11DA-B276-602FF7ABF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3650E-490B-D309-8278-EB070E44B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2CA63-CAF7-2124-8EC3-C4E1DE2C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FB3D-E08B-4B21-80AC-86FEAFB3CB0F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93A42-C4A4-876E-BE07-54A7742D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ADFE5-4FF2-A1F4-2763-C4D434C5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94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CD67-222D-0A04-4872-68935216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E9DC3-1456-355C-0DFC-2ADC7433F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752C2-F278-2A31-33A0-8CBB11A7F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A61C6-62D0-CD83-456A-C6FE5E7E4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37A6B-7D7A-80C0-D14E-8ACA7B664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1AAD3-2AC5-6E22-2FE4-93C651F2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164D-0B9B-4233-94B1-5A3E9B4D1A58}" type="datetime1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0D950-B0E8-27CC-09AA-5C5157AB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E3E06-3B03-0D48-3140-BFC082EE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757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EBF9-2261-E143-B067-DAEA5E87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035D1-D678-499F-AFD9-5A4AE5BC8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4C29-C199-4058-A1C7-1A50598B9745}" type="datetime1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FA0F7-853A-9563-2453-3FE41518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0327B-2810-878E-C11E-5D00E196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134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95C38-B0AE-27FC-F85F-80AFCCA8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E796-9F91-441F-A890-72901E593859}" type="datetime1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FCA33-D4C0-B036-E779-6483978F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8CD05-7500-CE5F-B1AA-A1C4EB14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126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7038-53B9-0DFB-2A5F-7ECC5145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A90B0-701B-2D6C-DF21-9E0A4FB2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8CCF6-BCCF-5089-1B78-B2BAD10CA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746AC-5BF7-DE4C-8349-E50265D1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E64F6-D438-4111-AC5D-DFB3501E8412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E14B7-FDAB-4461-3F67-FCDF57EB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7E26A-C43B-E9EB-6DB9-170971FA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400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58D8-4758-2BBC-E234-27BF668D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1E194-39C7-398C-68DA-624EF33E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5A0A4-1FEF-FEB0-D9B9-B4D741D45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EDD03-E915-5785-3139-010A0E19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8235-0F63-4F83-A204-5548E0915A10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001EE-7F59-B314-6F9F-0E8A4BB6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34E2F-7BCD-E7AA-2A50-1702D146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7321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2673-5EE8-96C0-CF30-D65404AE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1EB85-C801-7368-7168-D5EA9C2D7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89008-AC93-CF71-0AD1-514AF60C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CC5B-5232-430F-A007-3D84F6C0A6F6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22D1-C0BA-10E3-FAFF-3D80C047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50178-1561-5A17-6275-8610518E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351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0F3CE-ECAF-B724-AD26-D3C37CB70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779CF-24C5-5DB6-4A6C-F851202D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7111A-E8A1-29E6-BCC6-F3EF9B13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AF3F-E9D3-4E71-B9D3-E66E9B77231F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87A6-F95D-A30E-FC2E-A254D9F5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AC3BF-5162-870A-5647-C14078EB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18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F89506-8BFF-4623-4CB5-A920A175F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7C9A8-6F8B-A08A-7A97-FF9252525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BB205-411A-35AC-8C59-050F8CFD4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F3D09-9B10-4024-914E-4B541B980D7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1DA48-7706-6314-3745-B7CF85BED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12858-2096-8F1E-276C-FDFFCE5B7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258C3-D23A-4FA6-A02B-856533D3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18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6FB87-9950-668E-8CC1-1AEEABAC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56397-299B-0543-3800-78AE8F11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F07E-034C-71E4-3BBC-3D8C9D15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62CB-8878-49CA-B06F-1320EEC26B50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72CF9-57E2-7631-16A4-B5F36178E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05156-E96B-CB50-6816-E4D5AFDA0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6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ww.mathworks.com/matlabcentral/fileexchange/154381-essentials-of-neuroscience-with-matlab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s://onlinebm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C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4358BE-53CE-9014-827E-C816C8D254BC}"/>
              </a:ext>
            </a:extLst>
          </p:cNvPr>
          <p:cNvSpPr txBox="1"/>
          <p:nvPr/>
        </p:nvSpPr>
        <p:spPr>
          <a:xfrm>
            <a:off x="539085" y="2413337"/>
            <a:ext cx="11113830" cy="1015663"/>
          </a:xfrm>
          <a:prstGeom prst="rect">
            <a:avLst/>
          </a:prstGeom>
          <a:noFill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10. Supplementary Topics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45BCE0-FB7F-8748-2FA1-3551503B2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632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6D5F0F-C494-A098-D8C6-E012E9E666A6}"/>
              </a:ext>
            </a:extLst>
          </p:cNvPr>
          <p:cNvSpPr txBox="1"/>
          <p:nvPr/>
        </p:nvSpPr>
        <p:spPr>
          <a:xfrm>
            <a:off x="1150835" y="1474761"/>
            <a:ext cx="8562917" cy="4319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Program Designing Approaches: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Code Efficiency: Processing Load, Time, and Memory</a:t>
            </a:r>
          </a:p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Introduction to Simulink</a:t>
            </a:r>
          </a:p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Introduction to GUI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4358BE-53CE-9014-827E-C816C8D254BC}"/>
              </a:ext>
            </a:extLst>
          </p:cNvPr>
          <p:cNvSpPr txBox="1"/>
          <p:nvPr/>
        </p:nvSpPr>
        <p:spPr>
          <a:xfrm>
            <a:off x="623245" y="655094"/>
            <a:ext cx="11113830" cy="584775"/>
          </a:xfrm>
          <a:prstGeom prst="rect">
            <a:avLst/>
          </a:prstGeom>
          <a:solidFill>
            <a:srgbClr val="D2EC8A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10. Supplementary Topics -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General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45BCE0-FB7F-8748-2FA1-3551503B2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79C5EB-9BF3-79F8-1605-3B6D3FA49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D2EC8A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10. Supplementary Topics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allout: Line with Border and Accent Bar 5">
            <a:extLst>
              <a:ext uri="{FF2B5EF4-FFF2-40B4-BE49-F238E27FC236}">
                <a16:creationId xmlns:a16="http://schemas.microsoft.com/office/drawing/2014/main" id="{A5A577B4-6F7E-BD1A-9D97-6CE57D32A2B1}"/>
              </a:ext>
            </a:extLst>
          </p:cNvPr>
          <p:cNvSpPr/>
          <p:nvPr/>
        </p:nvSpPr>
        <p:spPr>
          <a:xfrm>
            <a:off x="6874080" y="1684561"/>
            <a:ext cx="2130803" cy="1208014"/>
          </a:xfrm>
          <a:prstGeom prst="accentBorderCallout1">
            <a:avLst>
              <a:gd name="adj1" fmla="val 48544"/>
              <a:gd name="adj2" fmla="val -10313"/>
              <a:gd name="adj3" fmla="val 48775"/>
              <a:gd name="adj4" fmla="val -62419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Top-Down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Bottom-Up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Combined</a:t>
            </a:r>
          </a:p>
        </p:txBody>
      </p:sp>
    </p:spTree>
    <p:extLst>
      <p:ext uri="{BB962C8B-B14F-4D97-AF65-F5344CB8AC3E}">
        <p14:creationId xmlns:p14="http://schemas.microsoft.com/office/powerpoint/2010/main" val="308638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0853D-631D-F6DE-B04D-D423D70C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E3C3E2-0A6B-0332-9F32-44E224D54681}"/>
              </a:ext>
            </a:extLst>
          </p:cNvPr>
          <p:cNvSpPr txBox="1"/>
          <p:nvPr/>
        </p:nvSpPr>
        <p:spPr>
          <a:xfrm>
            <a:off x="2086548" y="2018905"/>
            <a:ext cx="5879441" cy="3329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Principle Components Analysis (PCA)</a:t>
            </a:r>
          </a:p>
          <a:p>
            <a:pPr marL="285750" marR="0" lvl="0" indent="-28575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Independent Components Analysis (ICA)</a:t>
            </a:r>
          </a:p>
          <a:p>
            <a:pPr marL="285750" marR="0" lvl="0" indent="-28575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Fuzzy Concepts</a:t>
            </a:r>
          </a:p>
          <a:p>
            <a:pPr marL="285750" marR="0" lvl="0" indent="-28575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Optimization 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3B86E-FD1E-6E52-0BC2-BA1C67A69DE3}"/>
              </a:ext>
            </a:extLst>
          </p:cNvPr>
          <p:cNvSpPr txBox="1"/>
          <p:nvPr/>
        </p:nvSpPr>
        <p:spPr>
          <a:xfrm>
            <a:off x="623245" y="655094"/>
            <a:ext cx="11113830" cy="584775"/>
          </a:xfrm>
          <a:prstGeom prst="rect">
            <a:avLst/>
          </a:prstGeom>
          <a:solidFill>
            <a:srgbClr val="D2EC8A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10. Supplementary Topics -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Advanced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0AEFE9-7A3C-CCCE-AA5F-5E373B34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E1986-1900-344A-959E-94143523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D2EC8A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10. Supplementary Topics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042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F88DA-0107-B774-46D1-F785E78B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077169-D13C-7C20-8043-F12CC3C1B69E}"/>
              </a:ext>
            </a:extLst>
          </p:cNvPr>
          <p:cNvSpPr txBox="1"/>
          <p:nvPr/>
        </p:nvSpPr>
        <p:spPr>
          <a:xfrm>
            <a:off x="1277427" y="1560562"/>
            <a:ext cx="8562917" cy="44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Famous Biomedical Signal and Image Datasets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Toolboxes: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Biosig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eeglab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Psychtoolbox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, …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FT, DFT, STFT, FFT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, power spectrum, Wavelet,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Cepstrum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Auto-correlation, cross-correlation, convolution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Filters and Signal Pre-Processing Techniques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Digital Image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Features and Statistical Pattern Recognition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Machine Learning: Supervised/Unsupervised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86C58-4BE5-E8EC-3023-58482C23CFC5}"/>
              </a:ext>
            </a:extLst>
          </p:cNvPr>
          <p:cNvSpPr txBox="1"/>
          <p:nvPr/>
        </p:nvSpPr>
        <p:spPr>
          <a:xfrm>
            <a:off x="623245" y="655094"/>
            <a:ext cx="11113830" cy="584775"/>
          </a:xfrm>
          <a:prstGeom prst="rect">
            <a:avLst/>
          </a:prstGeom>
          <a:solidFill>
            <a:srgbClr val="D2EC8A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10. Supplementary Topics –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Biomedical Applications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BB814B-F84A-EE45-1FA9-870F7B45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38AA7-F959-29B2-7C74-3E5FB1D43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D2EC8A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10. Supplementary Topics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188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0853D-631D-F6DE-B04D-D423D70C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23B86E-FD1E-6E52-0BC2-BA1C67A69DE3}"/>
              </a:ext>
            </a:extLst>
          </p:cNvPr>
          <p:cNvSpPr txBox="1"/>
          <p:nvPr/>
        </p:nvSpPr>
        <p:spPr>
          <a:xfrm>
            <a:off x="623245" y="655094"/>
            <a:ext cx="11113830" cy="584775"/>
          </a:xfrm>
          <a:prstGeom prst="rect">
            <a:avLst/>
          </a:prstGeom>
          <a:solidFill>
            <a:srgbClr val="D2EC8A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10. Supplementary Topics -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Further Resources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0AEFE9-7A3C-CCCE-AA5F-5E373B34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E1986-1900-344A-959E-94143523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D2EC8A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10. Supplementary Topics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MATLAB for Neuroscientists | ScienceDirect">
            <a:extLst>
              <a:ext uri="{FF2B5EF4-FFF2-40B4-BE49-F238E27FC236}">
                <a16:creationId xmlns:a16="http://schemas.microsoft.com/office/drawing/2014/main" id="{8BB21060-17ED-886C-D977-24594C2B7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45" y="1458419"/>
            <a:ext cx="2811852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BB7783E-079C-56E8-3825-F19AE26F6052}"/>
              </a:ext>
            </a:extLst>
          </p:cNvPr>
          <p:cNvGrpSpPr/>
          <p:nvPr/>
        </p:nvGrpSpPr>
        <p:grpSpPr>
          <a:xfrm>
            <a:off x="6630805" y="1440823"/>
            <a:ext cx="5089405" cy="2200080"/>
            <a:chOff x="7189452" y="2189965"/>
            <a:chExt cx="3256491" cy="128794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19F5053-43AC-D709-B1A4-C8E3DC84E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24" t="25444" r="9064" b="16883"/>
            <a:stretch/>
          </p:blipFill>
          <p:spPr>
            <a:xfrm>
              <a:off x="7189452" y="2189965"/>
              <a:ext cx="3001032" cy="108506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7D15B9-AF2E-8C7F-2600-EA6CF2FB9298}"/>
                </a:ext>
              </a:extLst>
            </p:cNvPr>
            <p:cNvSpPr txBox="1"/>
            <p:nvPr/>
          </p:nvSpPr>
          <p:spPr>
            <a:xfrm>
              <a:off x="8191367" y="3135576"/>
              <a:ext cx="2254576" cy="342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Mohammad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Nourizadeh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Cherloo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4"/>
                </a:rPr>
                <a:t>onlinebme.com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F0675C-E6DD-5F31-E3C2-AACA7EDBE1D3}"/>
              </a:ext>
            </a:extLst>
          </p:cNvPr>
          <p:cNvGrpSpPr/>
          <p:nvPr/>
        </p:nvGrpSpPr>
        <p:grpSpPr>
          <a:xfrm>
            <a:off x="6941443" y="3978811"/>
            <a:ext cx="4503093" cy="2039357"/>
            <a:chOff x="6640446" y="3900292"/>
            <a:chExt cx="4275299" cy="1993259"/>
          </a:xfrm>
        </p:grpSpPr>
        <p:pic>
          <p:nvPicPr>
            <p:cNvPr id="2054" name="Picture 6" descr="Essentials of neuroscience with MATLAB - File Exchange - MATLAB Central">
              <a:extLst>
                <a:ext uri="{FF2B5EF4-FFF2-40B4-BE49-F238E27FC236}">
                  <a16:creationId xmlns:a16="http://schemas.microsoft.com/office/drawing/2014/main" id="{1CE568E2-4FF4-5D1B-9721-17A4DC5598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0446" y="3900293"/>
              <a:ext cx="3559391" cy="1993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622435-0C77-266B-D31F-037F51DB79A2}"/>
                </a:ext>
              </a:extLst>
            </p:cNvPr>
            <p:cNvSpPr txBox="1"/>
            <p:nvPr/>
          </p:nvSpPr>
          <p:spPr>
            <a:xfrm rot="5400000">
              <a:off x="9561162" y="4538967"/>
              <a:ext cx="1993257" cy="715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/>
                </a:rPr>
                <a:t>https://www.mathworks.com/matlabcentral/fileexchange/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/>
                </a:rPr>
                <a:t>154381-essentials-of-neuroscience-with-matlab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pic>
        <p:nvPicPr>
          <p:cNvPr id="2056" name="Picture 8" descr="MATLAB for Brain and Cognitive Scientists (Mit Press): 9780262035828:  Medicine &amp; Health Science Books @ Amazon.com">
            <a:extLst>
              <a:ext uri="{FF2B5EF4-FFF2-40B4-BE49-F238E27FC236}">
                <a16:creationId xmlns:a16="http://schemas.microsoft.com/office/drawing/2014/main" id="{C86B727E-41E0-C177-769B-A85B75FCF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2883" y="2634888"/>
            <a:ext cx="25507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84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Tamaas</dc:creator>
  <cp:lastModifiedBy>Tamas Publishing house</cp:lastModifiedBy>
  <cp:revision>5</cp:revision>
  <dcterms:created xsi:type="dcterms:W3CDTF">2024-03-14T08:08:19Z</dcterms:created>
  <dcterms:modified xsi:type="dcterms:W3CDTF">2024-12-10T08:55:53Z</dcterms:modified>
</cp:coreProperties>
</file>