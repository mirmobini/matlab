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65" r:id="rId3"/>
    <p:sldId id="329" r:id="rId4"/>
    <p:sldId id="365" r:id="rId5"/>
    <p:sldId id="397" r:id="rId6"/>
    <p:sldId id="367" r:id="rId7"/>
    <p:sldId id="297" r:id="rId8"/>
    <p:sldId id="354" r:id="rId9"/>
    <p:sldId id="362" r:id="rId10"/>
    <p:sldId id="307" r:id="rId11"/>
    <p:sldId id="363" r:id="rId12"/>
    <p:sldId id="353" r:id="rId13"/>
    <p:sldId id="364" r:id="rId14"/>
    <p:sldId id="299" r:id="rId15"/>
    <p:sldId id="358" r:id="rId16"/>
    <p:sldId id="368" r:id="rId17"/>
    <p:sldId id="366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309" r:id="rId26"/>
    <p:sldId id="4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9. Statistics" id="{BD0CCBD8-102A-4DB3-A6E7-27187FB361AD}">
          <p14:sldIdLst>
            <p14:sldId id="265"/>
            <p14:sldId id="329"/>
            <p14:sldId id="365"/>
            <p14:sldId id="397"/>
            <p14:sldId id="367"/>
            <p14:sldId id="297"/>
            <p14:sldId id="354"/>
            <p14:sldId id="362"/>
            <p14:sldId id="307"/>
            <p14:sldId id="363"/>
            <p14:sldId id="353"/>
            <p14:sldId id="364"/>
            <p14:sldId id="299"/>
            <p14:sldId id="358"/>
            <p14:sldId id="368"/>
            <p14:sldId id="366"/>
            <p14:sldId id="398"/>
            <p14:sldId id="399"/>
            <p14:sldId id="400"/>
            <p14:sldId id="401"/>
            <p14:sldId id="402"/>
            <p14:sldId id="403"/>
            <p14:sldId id="404"/>
            <p14:sldId id="309"/>
            <p14:sldId id="405"/>
          </p14:sldIdLst>
        </p14:section>
        <p14:section name="Default Section" id="{7DAB569C-9DE2-44D5-95DD-B7DCB9D64EC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19B021-8D51-4C8F-9009-0FB8905BE725}" type="doc">
      <dgm:prSet loTypeId="urn:microsoft.com/office/officeart/2005/8/layout/vList2" loCatId="list" qsTypeId="urn:microsoft.com/office/officeart/2005/8/quickstyle/simple3" qsCatId="simple" csTypeId="urn:microsoft.com/office/officeart/2005/8/colors/accent5_5" csCatId="accent5" phldr="1"/>
      <dgm:spPr/>
      <dgm:t>
        <a:bodyPr/>
        <a:lstStyle/>
        <a:p>
          <a:pPr rtl="1"/>
          <a:endParaRPr lang="fa-IR"/>
        </a:p>
      </dgm:t>
    </dgm:pt>
    <dgm:pt modelId="{98F2DFAE-0277-4BC5-A959-ED733A3FA80B}">
      <dgm:prSet phldrT="[Text]" custT="1"/>
      <dgm:spPr>
        <a:solidFill>
          <a:srgbClr val="6ECACA"/>
        </a:solidFill>
      </dgm:spPr>
      <dgm:t>
        <a:bodyPr/>
        <a:lstStyle/>
        <a:p>
          <a:pPr rtl="0">
            <a:buClrTx/>
            <a:buSzTx/>
            <a:buFont typeface="Arial" panose="020B0604020202020204" pitchFamily="34" charset="0"/>
            <a:buChar char="•"/>
          </a:pPr>
          <a:r>
            <a:rPr kumimoji="0" lang="en-US" sz="2400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Descriptive Statistics:</a:t>
          </a:r>
          <a:endParaRPr lang="fa-IR" sz="2400" dirty="0"/>
        </a:p>
      </dgm:t>
    </dgm:pt>
    <dgm:pt modelId="{004A52C6-1DDE-403D-BCE4-C704CD20DB56}" type="parTrans" cxnId="{DD92BD55-CD6A-494A-B59E-4F6435EE8D88}">
      <dgm:prSet/>
      <dgm:spPr/>
      <dgm:t>
        <a:bodyPr/>
        <a:lstStyle/>
        <a:p>
          <a:pPr rtl="1"/>
          <a:endParaRPr lang="fa-IR" sz="2000"/>
        </a:p>
      </dgm:t>
    </dgm:pt>
    <dgm:pt modelId="{47D3E14A-DA19-43C4-A942-A892A5F59F97}" type="sibTrans" cxnId="{DD92BD55-CD6A-494A-B59E-4F6435EE8D88}">
      <dgm:prSet/>
      <dgm:spPr/>
      <dgm:t>
        <a:bodyPr/>
        <a:lstStyle/>
        <a:p>
          <a:pPr rtl="1"/>
          <a:endParaRPr lang="fa-IR" sz="2000"/>
        </a:p>
      </dgm:t>
    </dgm:pt>
    <dgm:pt modelId="{306EFEE5-33D1-42AD-9B64-A6EFE9B957F1}">
      <dgm:prSet phldrT="[Text]" custT="1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kumimoji="0" lang="en-US" sz="1800" b="1" i="1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Uni-variate</a:t>
          </a:r>
          <a:endParaRPr lang="fa-IR" sz="1800" b="1" i="1" dirty="0"/>
        </a:p>
      </dgm:t>
    </dgm:pt>
    <dgm:pt modelId="{4A96D1FD-14CD-4350-8E35-7DA6F6C15ECB}" type="parTrans" cxnId="{230F1171-3B9D-4D46-AAE3-23E72D72499D}">
      <dgm:prSet/>
      <dgm:spPr/>
      <dgm:t>
        <a:bodyPr/>
        <a:lstStyle/>
        <a:p>
          <a:pPr rtl="1"/>
          <a:endParaRPr lang="fa-IR" sz="2000"/>
        </a:p>
      </dgm:t>
    </dgm:pt>
    <dgm:pt modelId="{4A00B0F8-922A-4D76-B42B-6CD4C0194E0D}" type="sibTrans" cxnId="{230F1171-3B9D-4D46-AAE3-23E72D72499D}">
      <dgm:prSet/>
      <dgm:spPr/>
      <dgm:t>
        <a:bodyPr/>
        <a:lstStyle/>
        <a:p>
          <a:pPr rtl="1"/>
          <a:endParaRPr lang="fa-IR" sz="2000"/>
        </a:p>
      </dgm:t>
    </dgm:pt>
    <dgm:pt modelId="{630F1899-1065-403F-A7F1-86CFD35120C1}">
      <dgm:prSet phldrT="[Text]" custT="1"/>
      <dgm:spPr>
        <a:solidFill>
          <a:srgbClr val="6ECACA"/>
        </a:solidFill>
      </dgm:spPr>
      <dgm:t>
        <a:bodyPr/>
        <a:lstStyle/>
        <a:p>
          <a:pPr rtl="0">
            <a:buClrTx/>
            <a:buSzTx/>
            <a:buFont typeface="Arial" panose="020B0604020202020204" pitchFamily="34" charset="0"/>
            <a:buChar char="•"/>
          </a:pPr>
          <a:r>
            <a:rPr kumimoji="0" lang="en-US" sz="2400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Inferential Analysis</a:t>
          </a:r>
          <a:endParaRPr lang="fa-IR" sz="2400" dirty="0"/>
        </a:p>
      </dgm:t>
    </dgm:pt>
    <dgm:pt modelId="{4D49273C-4D10-4FF2-8641-90EFFD10286A}" type="parTrans" cxnId="{BE791493-6EFA-4707-9A3F-F4B809E7EB8F}">
      <dgm:prSet/>
      <dgm:spPr/>
      <dgm:t>
        <a:bodyPr/>
        <a:lstStyle/>
        <a:p>
          <a:pPr rtl="1"/>
          <a:endParaRPr lang="fa-IR" sz="2000"/>
        </a:p>
      </dgm:t>
    </dgm:pt>
    <dgm:pt modelId="{AAB16A4B-4BC5-4ED2-B925-1C95924EFE37}" type="sibTrans" cxnId="{BE791493-6EFA-4707-9A3F-F4B809E7EB8F}">
      <dgm:prSet/>
      <dgm:spPr/>
      <dgm:t>
        <a:bodyPr/>
        <a:lstStyle/>
        <a:p>
          <a:pPr rtl="1"/>
          <a:endParaRPr lang="fa-IR" sz="2000"/>
        </a:p>
      </dgm:t>
    </dgm:pt>
    <dgm:pt modelId="{1B20ED9F-A4C6-437D-AA60-DAAFE181BE0D}">
      <dgm:prSet phldrT="[Text]" custT="1"/>
      <dgm:spPr/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lang="en-US" sz="1800" b="1" i="1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Basic Concepts</a:t>
          </a:r>
          <a:endParaRPr lang="fa-IR" sz="1800" b="1" i="1" dirty="0"/>
        </a:p>
      </dgm:t>
    </dgm:pt>
    <dgm:pt modelId="{9A66E60A-0DFA-4F0E-9B43-5A81687E7D6B}" type="parTrans" cxnId="{9726CD26-F91B-4A71-8B77-C01415BDE036}">
      <dgm:prSet/>
      <dgm:spPr/>
      <dgm:t>
        <a:bodyPr/>
        <a:lstStyle/>
        <a:p>
          <a:pPr rtl="1"/>
          <a:endParaRPr lang="fa-IR" sz="2000"/>
        </a:p>
      </dgm:t>
    </dgm:pt>
    <dgm:pt modelId="{4B229107-D951-4025-8175-90D7832EEE1C}" type="sibTrans" cxnId="{9726CD26-F91B-4A71-8B77-C01415BDE036}">
      <dgm:prSet/>
      <dgm:spPr/>
      <dgm:t>
        <a:bodyPr/>
        <a:lstStyle/>
        <a:p>
          <a:pPr rtl="1"/>
          <a:endParaRPr lang="fa-IR" sz="2000"/>
        </a:p>
      </dgm:t>
    </dgm:pt>
    <dgm:pt modelId="{B04287F1-8215-436B-B083-66243886003C}">
      <dgm:prSet phldrT="[Text]" custT="1"/>
      <dgm:spPr>
        <a:solidFill>
          <a:srgbClr val="6ECACA"/>
        </a:solidFill>
      </dgm:spPr>
      <dgm:t>
        <a:bodyPr/>
        <a:lstStyle/>
        <a:p>
          <a:pPr rtl="0">
            <a:buFont typeface="Arial" panose="020B0604020202020204" pitchFamily="34" charset="0"/>
            <a:buChar char="•"/>
          </a:pPr>
          <a:r>
            <a:rPr kumimoji="0" lang="en-US" sz="2400" b="0" i="0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Experimental Design and Sample Size Calculations</a:t>
          </a:r>
          <a:endParaRPr lang="fa-IR" sz="2400" dirty="0"/>
        </a:p>
      </dgm:t>
    </dgm:pt>
    <dgm:pt modelId="{A3743143-EC5B-49C3-BBF3-BE9B26BB2FD4}" type="parTrans" cxnId="{276BD3BC-91EE-43D6-B6B5-DF5F3A704BD9}">
      <dgm:prSet/>
      <dgm:spPr/>
      <dgm:t>
        <a:bodyPr/>
        <a:lstStyle/>
        <a:p>
          <a:pPr rtl="1"/>
          <a:endParaRPr lang="fa-IR" sz="2000"/>
        </a:p>
      </dgm:t>
    </dgm:pt>
    <dgm:pt modelId="{D8644B6F-DED9-4FEE-8544-F70320CF7983}" type="sibTrans" cxnId="{276BD3BC-91EE-43D6-B6B5-DF5F3A704BD9}">
      <dgm:prSet/>
      <dgm:spPr/>
      <dgm:t>
        <a:bodyPr/>
        <a:lstStyle/>
        <a:p>
          <a:pPr rtl="1"/>
          <a:endParaRPr lang="fa-IR" sz="2000"/>
        </a:p>
      </dgm:t>
    </dgm:pt>
    <dgm:pt modelId="{A08A9EE1-29D2-4D57-932C-F1096EE45F91}">
      <dgm:prSet custT="1"/>
      <dgm:spPr/>
      <dgm:t>
        <a:bodyPr/>
        <a:lstStyle/>
        <a:p>
          <a:pPr rtl="0"/>
          <a:r>
            <a:rPr lang="en-US" sz="1800" b="1" i="1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Bi-variate</a:t>
          </a:r>
        </a:p>
      </dgm:t>
    </dgm:pt>
    <dgm:pt modelId="{DF349357-B629-4016-A463-34D54B2FCCF9}" type="parTrans" cxnId="{92A6B516-DF19-4D46-94B1-33131B8D4581}">
      <dgm:prSet/>
      <dgm:spPr/>
      <dgm:t>
        <a:bodyPr/>
        <a:lstStyle/>
        <a:p>
          <a:pPr rtl="1"/>
          <a:endParaRPr lang="fa-IR" sz="2000"/>
        </a:p>
      </dgm:t>
    </dgm:pt>
    <dgm:pt modelId="{A2F359A9-BCCF-42AB-8D54-BF1800376BFD}" type="sibTrans" cxnId="{92A6B516-DF19-4D46-94B1-33131B8D4581}">
      <dgm:prSet/>
      <dgm:spPr/>
      <dgm:t>
        <a:bodyPr/>
        <a:lstStyle/>
        <a:p>
          <a:pPr rtl="1"/>
          <a:endParaRPr lang="fa-IR" sz="2000"/>
        </a:p>
      </dgm:t>
    </dgm:pt>
    <dgm:pt modelId="{444C36E8-D0A5-4678-8DFC-79D2EAC5427B}">
      <dgm:prSet custT="1"/>
      <dgm:spPr/>
      <dgm:t>
        <a:bodyPr/>
        <a:lstStyle/>
        <a:p>
          <a:pPr rtl="0"/>
          <a:r>
            <a:rPr kumimoji="0" lang="en-US" sz="1800" b="1" i="1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Regression Analysis</a:t>
          </a:r>
        </a:p>
      </dgm:t>
    </dgm:pt>
    <dgm:pt modelId="{E9792A08-B086-4C14-9AC4-8B91B8F3CEBB}" type="parTrans" cxnId="{18B75364-12D7-4244-BC24-393CBD841D2E}">
      <dgm:prSet/>
      <dgm:spPr/>
      <dgm:t>
        <a:bodyPr/>
        <a:lstStyle/>
        <a:p>
          <a:pPr rtl="1"/>
          <a:endParaRPr lang="fa-IR" sz="2000"/>
        </a:p>
      </dgm:t>
    </dgm:pt>
    <dgm:pt modelId="{1DA6FD8A-F9AD-4E3B-B323-10412573D950}" type="sibTrans" cxnId="{18B75364-12D7-4244-BC24-393CBD841D2E}">
      <dgm:prSet/>
      <dgm:spPr/>
      <dgm:t>
        <a:bodyPr/>
        <a:lstStyle/>
        <a:p>
          <a:pPr rtl="1"/>
          <a:endParaRPr lang="fa-IR" sz="2000"/>
        </a:p>
      </dgm:t>
    </dgm:pt>
    <dgm:pt modelId="{8D42185E-8B0C-4A88-A290-4A66E826128C}">
      <dgm:prSet custT="1"/>
      <dgm:spPr/>
      <dgm:t>
        <a:bodyPr/>
        <a:lstStyle/>
        <a:p>
          <a:pPr rtl="0"/>
          <a:r>
            <a:rPr lang="en-US" sz="1800" b="1" i="1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ROC Analysis</a:t>
          </a:r>
          <a:endParaRPr kumimoji="0" lang="en-US" sz="1800" b="1" i="1" u="none" strike="noStrike" cap="none" spc="0" normalizeH="0" baseline="0" noProof="0" dirty="0">
            <a:ln/>
            <a:effectLst/>
            <a:uLnTx/>
            <a:uFillTx/>
            <a:latin typeface="Times New Roman" panose="02020603050405020304" pitchFamily="18" charset="0"/>
            <a:ea typeface="Microsoft Sans Serif" panose="020B0604020202020204" pitchFamily="34" charset="0"/>
            <a:cs typeface="Times New Roman" panose="02020603050405020304" pitchFamily="18" charset="0"/>
          </a:endParaRPr>
        </a:p>
      </dgm:t>
    </dgm:pt>
    <dgm:pt modelId="{1F66CDE9-2173-4469-BE8C-AAC5EE6D1485}" type="parTrans" cxnId="{C0373A2A-8456-408B-ABBB-A6DA50BD5EBE}">
      <dgm:prSet/>
      <dgm:spPr/>
      <dgm:t>
        <a:bodyPr/>
        <a:lstStyle/>
        <a:p>
          <a:pPr rtl="1"/>
          <a:endParaRPr lang="fa-IR" sz="2000"/>
        </a:p>
      </dgm:t>
    </dgm:pt>
    <dgm:pt modelId="{3597DC7F-0D40-4E9C-8798-841FA0508BC0}" type="sibTrans" cxnId="{C0373A2A-8456-408B-ABBB-A6DA50BD5EBE}">
      <dgm:prSet/>
      <dgm:spPr/>
      <dgm:t>
        <a:bodyPr/>
        <a:lstStyle/>
        <a:p>
          <a:pPr rtl="1"/>
          <a:endParaRPr lang="fa-IR" sz="2000"/>
        </a:p>
      </dgm:t>
    </dgm:pt>
    <dgm:pt modelId="{A15D531A-933D-49B1-9B23-B3A3C6FF6506}">
      <dgm:prSet custT="1"/>
      <dgm:spPr/>
      <dgm:t>
        <a:bodyPr/>
        <a:lstStyle/>
        <a:p>
          <a:pPr rtl="0"/>
          <a:r>
            <a:rPr kumimoji="0" lang="en-US" sz="1800" b="1" i="1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Parametric Hypothesis Testing</a:t>
          </a:r>
        </a:p>
      </dgm:t>
    </dgm:pt>
    <dgm:pt modelId="{B71A8147-339B-4F18-98DA-22BB24F30B32}" type="parTrans" cxnId="{50515902-9C51-4EA4-A466-3DB88BDEFC3D}">
      <dgm:prSet/>
      <dgm:spPr/>
      <dgm:t>
        <a:bodyPr/>
        <a:lstStyle/>
        <a:p>
          <a:pPr rtl="1"/>
          <a:endParaRPr lang="fa-IR" sz="2000"/>
        </a:p>
      </dgm:t>
    </dgm:pt>
    <dgm:pt modelId="{1E7C4F34-7F1A-44BD-A750-55691DD8745A}" type="sibTrans" cxnId="{50515902-9C51-4EA4-A466-3DB88BDEFC3D}">
      <dgm:prSet/>
      <dgm:spPr/>
      <dgm:t>
        <a:bodyPr/>
        <a:lstStyle/>
        <a:p>
          <a:pPr rtl="1"/>
          <a:endParaRPr lang="fa-IR" sz="2000"/>
        </a:p>
      </dgm:t>
    </dgm:pt>
    <dgm:pt modelId="{9B01CF79-253C-42D7-AD51-74A170D522F0}">
      <dgm:prSet custT="1"/>
      <dgm:spPr/>
      <dgm:t>
        <a:bodyPr/>
        <a:lstStyle/>
        <a:p>
          <a:pPr rtl="0"/>
          <a:r>
            <a:rPr kumimoji="0" lang="en-US" sz="1800" b="1" i="1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Non-Parametric Hypothesis Testing</a:t>
          </a:r>
        </a:p>
      </dgm:t>
    </dgm:pt>
    <dgm:pt modelId="{C5495BA0-C29A-497E-9390-E1A78908712D}" type="parTrans" cxnId="{0C400480-50C5-4E7B-BE42-A1197D31E63E}">
      <dgm:prSet/>
      <dgm:spPr/>
      <dgm:t>
        <a:bodyPr/>
        <a:lstStyle/>
        <a:p>
          <a:pPr rtl="1"/>
          <a:endParaRPr lang="fa-IR" sz="2000"/>
        </a:p>
      </dgm:t>
    </dgm:pt>
    <dgm:pt modelId="{04507199-CF9D-41A0-B966-729C161B45AF}" type="sibTrans" cxnId="{0C400480-50C5-4E7B-BE42-A1197D31E63E}">
      <dgm:prSet/>
      <dgm:spPr/>
      <dgm:t>
        <a:bodyPr/>
        <a:lstStyle/>
        <a:p>
          <a:pPr rtl="1"/>
          <a:endParaRPr lang="fa-IR" sz="2000"/>
        </a:p>
      </dgm:t>
    </dgm:pt>
    <dgm:pt modelId="{AFFAC23D-42B7-4196-9E55-4CE0B1133232}">
      <dgm:prSet custT="1"/>
      <dgm:spPr/>
      <dgm:t>
        <a:bodyPr/>
        <a:lstStyle/>
        <a:p>
          <a:pPr rtl="0"/>
          <a:r>
            <a:rPr kumimoji="0" lang="en-US" sz="1800" b="1" i="1" u="none" strike="noStrike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Multiple and Multivariate Hypothesis Testing</a:t>
          </a:r>
        </a:p>
      </dgm:t>
    </dgm:pt>
    <dgm:pt modelId="{A37CF493-B1F3-4CCB-B0DB-1C80BE141B7C}" type="parTrans" cxnId="{1AA1A762-7C80-4DF7-B6A7-99CF487F2CEC}">
      <dgm:prSet/>
      <dgm:spPr/>
      <dgm:t>
        <a:bodyPr/>
        <a:lstStyle/>
        <a:p>
          <a:pPr rtl="1"/>
          <a:endParaRPr lang="fa-IR" sz="2000"/>
        </a:p>
      </dgm:t>
    </dgm:pt>
    <dgm:pt modelId="{FB04A3F5-AD70-4CB7-AEDD-07875AC668BA}" type="sibTrans" cxnId="{1AA1A762-7C80-4DF7-B6A7-99CF487F2CEC}">
      <dgm:prSet/>
      <dgm:spPr/>
      <dgm:t>
        <a:bodyPr/>
        <a:lstStyle/>
        <a:p>
          <a:pPr rtl="1"/>
          <a:endParaRPr lang="fa-IR" sz="2000"/>
        </a:p>
      </dgm:t>
    </dgm:pt>
    <dgm:pt modelId="{6FCD04F0-F698-41F8-9884-6D3E1E33D2EC}">
      <dgm:prSet phldrT="[Text]" custT="1"/>
      <dgm:spPr>
        <a:solidFill>
          <a:srgbClr val="6ECACA"/>
        </a:solidFill>
      </dgm:spPr>
      <dgm:t>
        <a:bodyPr/>
        <a:lstStyle/>
        <a:p>
          <a:pPr rtl="0"/>
          <a:r>
            <a:rPr lang="en-US" sz="2400" b="0" i="0" dirty="0"/>
            <a:t>Statistical Shape Models</a:t>
          </a:r>
          <a:endParaRPr lang="fa-IR" sz="2400" dirty="0"/>
        </a:p>
      </dgm:t>
    </dgm:pt>
    <dgm:pt modelId="{C9441DB1-6887-4F6E-BB31-2DCD49DDDEA8}" type="parTrans" cxnId="{9CCD85AF-8D14-40B2-93F8-C0B92B7A0D03}">
      <dgm:prSet/>
      <dgm:spPr/>
      <dgm:t>
        <a:bodyPr/>
        <a:lstStyle/>
        <a:p>
          <a:pPr rtl="1"/>
          <a:endParaRPr lang="fa-IR" sz="2000"/>
        </a:p>
      </dgm:t>
    </dgm:pt>
    <dgm:pt modelId="{55351825-2806-4F2E-A3EA-8ABD56F6C9DF}" type="sibTrans" cxnId="{9CCD85AF-8D14-40B2-93F8-C0B92B7A0D03}">
      <dgm:prSet/>
      <dgm:spPr/>
      <dgm:t>
        <a:bodyPr/>
        <a:lstStyle/>
        <a:p>
          <a:pPr rtl="1"/>
          <a:endParaRPr lang="fa-IR" sz="2000"/>
        </a:p>
      </dgm:t>
    </dgm:pt>
    <dgm:pt modelId="{CEFBDC2E-90C6-4F88-8631-64F7C5BC5A37}" type="pres">
      <dgm:prSet presAssocID="{D019B021-8D51-4C8F-9009-0FB8905BE725}" presName="linear" presStyleCnt="0">
        <dgm:presLayoutVars>
          <dgm:animLvl val="lvl"/>
          <dgm:resizeHandles val="exact"/>
        </dgm:presLayoutVars>
      </dgm:prSet>
      <dgm:spPr/>
    </dgm:pt>
    <dgm:pt modelId="{B38AFE4F-3AD5-4602-9956-E8B573EF09B0}" type="pres">
      <dgm:prSet presAssocID="{98F2DFAE-0277-4BC5-A959-ED733A3FA8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A9AA5EF-D610-4F3E-960D-6278C636756B}" type="pres">
      <dgm:prSet presAssocID="{98F2DFAE-0277-4BC5-A959-ED733A3FA80B}" presName="childText" presStyleLbl="revTx" presStyleIdx="0" presStyleCnt="2">
        <dgm:presLayoutVars>
          <dgm:bulletEnabled val="1"/>
        </dgm:presLayoutVars>
      </dgm:prSet>
      <dgm:spPr/>
    </dgm:pt>
    <dgm:pt modelId="{2D94BBA7-C732-496E-84EA-D962CBDD7702}" type="pres">
      <dgm:prSet presAssocID="{630F1899-1065-403F-A7F1-86CFD35120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C78B9C-3404-4EEF-AC05-3D0BA1977EDF}" type="pres">
      <dgm:prSet presAssocID="{630F1899-1065-403F-A7F1-86CFD35120C1}" presName="childText" presStyleLbl="revTx" presStyleIdx="1" presStyleCnt="2">
        <dgm:presLayoutVars>
          <dgm:bulletEnabled val="1"/>
        </dgm:presLayoutVars>
      </dgm:prSet>
      <dgm:spPr/>
    </dgm:pt>
    <dgm:pt modelId="{77D4C838-2344-422F-BDC5-959DD21D2D32}" type="pres">
      <dgm:prSet presAssocID="{B04287F1-8215-436B-B083-6624388600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1BC12CF-B9F8-49D2-854E-E565CDA823A7}" type="pres">
      <dgm:prSet presAssocID="{D8644B6F-DED9-4FEE-8544-F70320CF7983}" presName="spacer" presStyleCnt="0"/>
      <dgm:spPr/>
    </dgm:pt>
    <dgm:pt modelId="{3B66C310-479E-4FB2-8E4D-D6074B0CA435}" type="pres">
      <dgm:prSet presAssocID="{6FCD04F0-F698-41F8-9884-6D3E1E33D2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0515902-9C51-4EA4-A466-3DB88BDEFC3D}" srcId="{630F1899-1065-403F-A7F1-86CFD35120C1}" destId="{A15D531A-933D-49B1-9B23-B3A3C6FF6506}" srcOrd="1" destOrd="0" parTransId="{B71A8147-339B-4F18-98DA-22BB24F30B32}" sibTransId="{1E7C4F34-7F1A-44BD-A750-55691DD8745A}"/>
    <dgm:cxn modelId="{92A6B516-DF19-4D46-94B1-33131B8D4581}" srcId="{98F2DFAE-0277-4BC5-A959-ED733A3FA80B}" destId="{A08A9EE1-29D2-4D57-932C-F1096EE45F91}" srcOrd="1" destOrd="0" parTransId="{DF349357-B629-4016-A463-34D54B2FCCF9}" sibTransId="{A2F359A9-BCCF-42AB-8D54-BF1800376BFD}"/>
    <dgm:cxn modelId="{9726CD26-F91B-4A71-8B77-C01415BDE036}" srcId="{630F1899-1065-403F-A7F1-86CFD35120C1}" destId="{1B20ED9F-A4C6-437D-AA60-DAAFE181BE0D}" srcOrd="0" destOrd="0" parTransId="{9A66E60A-0DFA-4F0E-9B43-5A81687E7D6B}" sibTransId="{4B229107-D951-4025-8175-90D7832EEE1C}"/>
    <dgm:cxn modelId="{C0373A2A-8456-408B-ABBB-A6DA50BD5EBE}" srcId="{98F2DFAE-0277-4BC5-A959-ED733A3FA80B}" destId="{8D42185E-8B0C-4A88-A290-4A66E826128C}" srcOrd="3" destOrd="0" parTransId="{1F66CDE9-2173-4469-BE8C-AAC5EE6D1485}" sibTransId="{3597DC7F-0D40-4E9C-8798-841FA0508BC0}"/>
    <dgm:cxn modelId="{2F86A830-A25B-4318-BE3A-5BEBF06E3E9A}" type="presOf" srcId="{D019B021-8D51-4C8F-9009-0FB8905BE725}" destId="{CEFBDC2E-90C6-4F88-8631-64F7C5BC5A37}" srcOrd="0" destOrd="0" presId="urn:microsoft.com/office/officeart/2005/8/layout/vList2"/>
    <dgm:cxn modelId="{E899D73C-10FE-4B74-9CCE-3D00698AB99B}" type="presOf" srcId="{306EFEE5-33D1-42AD-9B64-A6EFE9B957F1}" destId="{8A9AA5EF-D610-4F3E-960D-6278C636756B}" srcOrd="0" destOrd="0" presId="urn:microsoft.com/office/officeart/2005/8/layout/vList2"/>
    <dgm:cxn modelId="{1AA1A762-7C80-4DF7-B6A7-99CF487F2CEC}" srcId="{630F1899-1065-403F-A7F1-86CFD35120C1}" destId="{AFFAC23D-42B7-4196-9E55-4CE0B1133232}" srcOrd="3" destOrd="0" parTransId="{A37CF493-B1F3-4CCB-B0DB-1C80BE141B7C}" sibTransId="{FB04A3F5-AD70-4CB7-AEDD-07875AC668BA}"/>
    <dgm:cxn modelId="{18B75364-12D7-4244-BC24-393CBD841D2E}" srcId="{98F2DFAE-0277-4BC5-A959-ED733A3FA80B}" destId="{444C36E8-D0A5-4678-8DFC-79D2EAC5427B}" srcOrd="2" destOrd="0" parTransId="{E9792A08-B086-4C14-9AC4-8B91B8F3CEBB}" sibTransId="{1DA6FD8A-F9AD-4E3B-B323-10412573D950}"/>
    <dgm:cxn modelId="{230F1171-3B9D-4D46-AAE3-23E72D72499D}" srcId="{98F2DFAE-0277-4BC5-A959-ED733A3FA80B}" destId="{306EFEE5-33D1-42AD-9B64-A6EFE9B957F1}" srcOrd="0" destOrd="0" parTransId="{4A96D1FD-14CD-4350-8E35-7DA6F6C15ECB}" sibTransId="{4A00B0F8-922A-4D76-B42B-6CD4C0194E0D}"/>
    <dgm:cxn modelId="{A58B6B53-0791-42CE-8BC9-51FEE9DCFE7A}" type="presOf" srcId="{98F2DFAE-0277-4BC5-A959-ED733A3FA80B}" destId="{B38AFE4F-3AD5-4602-9956-E8B573EF09B0}" srcOrd="0" destOrd="0" presId="urn:microsoft.com/office/officeart/2005/8/layout/vList2"/>
    <dgm:cxn modelId="{E1C73755-3D52-4222-B50B-3E82E74D8A70}" type="presOf" srcId="{A08A9EE1-29D2-4D57-932C-F1096EE45F91}" destId="{8A9AA5EF-D610-4F3E-960D-6278C636756B}" srcOrd="0" destOrd="1" presId="urn:microsoft.com/office/officeart/2005/8/layout/vList2"/>
    <dgm:cxn modelId="{DD92BD55-CD6A-494A-B59E-4F6435EE8D88}" srcId="{D019B021-8D51-4C8F-9009-0FB8905BE725}" destId="{98F2DFAE-0277-4BC5-A959-ED733A3FA80B}" srcOrd="0" destOrd="0" parTransId="{004A52C6-1DDE-403D-BCE4-C704CD20DB56}" sibTransId="{47D3E14A-DA19-43C4-A942-A892A5F59F97}"/>
    <dgm:cxn modelId="{0C400480-50C5-4E7B-BE42-A1197D31E63E}" srcId="{630F1899-1065-403F-A7F1-86CFD35120C1}" destId="{9B01CF79-253C-42D7-AD51-74A170D522F0}" srcOrd="2" destOrd="0" parTransId="{C5495BA0-C29A-497E-9390-E1A78908712D}" sibTransId="{04507199-CF9D-41A0-B966-729C161B45AF}"/>
    <dgm:cxn modelId="{BE791493-6EFA-4707-9A3F-F4B809E7EB8F}" srcId="{D019B021-8D51-4C8F-9009-0FB8905BE725}" destId="{630F1899-1065-403F-A7F1-86CFD35120C1}" srcOrd="1" destOrd="0" parTransId="{4D49273C-4D10-4FF2-8641-90EFFD10286A}" sibTransId="{AAB16A4B-4BC5-4ED2-B925-1C95924EFE37}"/>
    <dgm:cxn modelId="{26C165A6-F1CF-4D44-AE88-DE0098B34639}" type="presOf" srcId="{A15D531A-933D-49B1-9B23-B3A3C6FF6506}" destId="{77C78B9C-3404-4EEF-AC05-3D0BA1977EDF}" srcOrd="0" destOrd="1" presId="urn:microsoft.com/office/officeart/2005/8/layout/vList2"/>
    <dgm:cxn modelId="{9CCD85AF-8D14-40B2-93F8-C0B92B7A0D03}" srcId="{D019B021-8D51-4C8F-9009-0FB8905BE725}" destId="{6FCD04F0-F698-41F8-9884-6D3E1E33D2EC}" srcOrd="3" destOrd="0" parTransId="{C9441DB1-6887-4F6E-BB31-2DCD49DDDEA8}" sibTransId="{55351825-2806-4F2E-A3EA-8ABD56F6C9DF}"/>
    <dgm:cxn modelId="{8C0BC5B3-A7E5-4330-8888-E0B5A65D8B9C}" type="presOf" srcId="{AFFAC23D-42B7-4196-9E55-4CE0B1133232}" destId="{77C78B9C-3404-4EEF-AC05-3D0BA1977EDF}" srcOrd="0" destOrd="3" presId="urn:microsoft.com/office/officeart/2005/8/layout/vList2"/>
    <dgm:cxn modelId="{649EC1B9-C90E-48A9-81BD-46D4F505E832}" type="presOf" srcId="{1B20ED9F-A4C6-437D-AA60-DAAFE181BE0D}" destId="{77C78B9C-3404-4EEF-AC05-3D0BA1977EDF}" srcOrd="0" destOrd="0" presId="urn:microsoft.com/office/officeart/2005/8/layout/vList2"/>
    <dgm:cxn modelId="{931466BA-01B0-453E-82B0-1FA92713A4DA}" type="presOf" srcId="{9B01CF79-253C-42D7-AD51-74A170D522F0}" destId="{77C78B9C-3404-4EEF-AC05-3D0BA1977EDF}" srcOrd="0" destOrd="2" presId="urn:microsoft.com/office/officeart/2005/8/layout/vList2"/>
    <dgm:cxn modelId="{276BD3BC-91EE-43D6-B6B5-DF5F3A704BD9}" srcId="{D019B021-8D51-4C8F-9009-0FB8905BE725}" destId="{B04287F1-8215-436B-B083-66243886003C}" srcOrd="2" destOrd="0" parTransId="{A3743143-EC5B-49C3-BBF3-BE9B26BB2FD4}" sibTransId="{D8644B6F-DED9-4FEE-8544-F70320CF7983}"/>
    <dgm:cxn modelId="{EEFDA5C1-61BB-45F9-B80E-0DE3DA787CED}" type="presOf" srcId="{B04287F1-8215-436B-B083-66243886003C}" destId="{77D4C838-2344-422F-BDC5-959DD21D2D32}" srcOrd="0" destOrd="0" presId="urn:microsoft.com/office/officeart/2005/8/layout/vList2"/>
    <dgm:cxn modelId="{E9A23EDB-67A2-4312-A7AA-949520A7C05F}" type="presOf" srcId="{8D42185E-8B0C-4A88-A290-4A66E826128C}" destId="{8A9AA5EF-D610-4F3E-960D-6278C636756B}" srcOrd="0" destOrd="3" presId="urn:microsoft.com/office/officeart/2005/8/layout/vList2"/>
    <dgm:cxn modelId="{48C4AFDD-321F-448B-8CE8-ECEA964FDC9C}" type="presOf" srcId="{444C36E8-D0A5-4678-8DFC-79D2EAC5427B}" destId="{8A9AA5EF-D610-4F3E-960D-6278C636756B}" srcOrd="0" destOrd="2" presId="urn:microsoft.com/office/officeart/2005/8/layout/vList2"/>
    <dgm:cxn modelId="{3FA3C7E9-CE0B-4DC3-BED9-EF64E2317E59}" type="presOf" srcId="{6FCD04F0-F698-41F8-9884-6D3E1E33D2EC}" destId="{3B66C310-479E-4FB2-8E4D-D6074B0CA435}" srcOrd="0" destOrd="0" presId="urn:microsoft.com/office/officeart/2005/8/layout/vList2"/>
    <dgm:cxn modelId="{F5B46EEA-05E5-42D6-BC80-D084635A0E35}" type="presOf" srcId="{630F1899-1065-403F-A7F1-86CFD35120C1}" destId="{2D94BBA7-C732-496E-84EA-D962CBDD7702}" srcOrd="0" destOrd="0" presId="urn:microsoft.com/office/officeart/2005/8/layout/vList2"/>
    <dgm:cxn modelId="{9F34FA1C-B0E3-4526-9D81-3CA464202B23}" type="presParOf" srcId="{CEFBDC2E-90C6-4F88-8631-64F7C5BC5A37}" destId="{B38AFE4F-3AD5-4602-9956-E8B573EF09B0}" srcOrd="0" destOrd="0" presId="urn:microsoft.com/office/officeart/2005/8/layout/vList2"/>
    <dgm:cxn modelId="{3D76447A-A65C-4B15-B477-E4BA82A8D287}" type="presParOf" srcId="{CEFBDC2E-90C6-4F88-8631-64F7C5BC5A37}" destId="{8A9AA5EF-D610-4F3E-960D-6278C636756B}" srcOrd="1" destOrd="0" presId="urn:microsoft.com/office/officeart/2005/8/layout/vList2"/>
    <dgm:cxn modelId="{0DE4F6C3-4832-48B2-859F-7ACF71792DA2}" type="presParOf" srcId="{CEFBDC2E-90C6-4F88-8631-64F7C5BC5A37}" destId="{2D94BBA7-C732-496E-84EA-D962CBDD7702}" srcOrd="2" destOrd="0" presId="urn:microsoft.com/office/officeart/2005/8/layout/vList2"/>
    <dgm:cxn modelId="{60CA31C1-47DD-430D-BE79-0C0116865AEA}" type="presParOf" srcId="{CEFBDC2E-90C6-4F88-8631-64F7C5BC5A37}" destId="{77C78B9C-3404-4EEF-AC05-3D0BA1977EDF}" srcOrd="3" destOrd="0" presId="urn:microsoft.com/office/officeart/2005/8/layout/vList2"/>
    <dgm:cxn modelId="{FD76E85C-629E-410B-BDF9-6A6A95FAD4EA}" type="presParOf" srcId="{CEFBDC2E-90C6-4F88-8631-64F7C5BC5A37}" destId="{77D4C838-2344-422F-BDC5-959DD21D2D32}" srcOrd="4" destOrd="0" presId="urn:microsoft.com/office/officeart/2005/8/layout/vList2"/>
    <dgm:cxn modelId="{902D17B4-C2A0-40F1-85D3-B1A4B70DDEBE}" type="presParOf" srcId="{CEFBDC2E-90C6-4F88-8631-64F7C5BC5A37}" destId="{71BC12CF-B9F8-49D2-854E-E565CDA823A7}" srcOrd="5" destOrd="0" presId="urn:microsoft.com/office/officeart/2005/8/layout/vList2"/>
    <dgm:cxn modelId="{D21DE9A7-196F-4C30-982A-B3F93B4C63D0}" type="presParOf" srcId="{CEFBDC2E-90C6-4F88-8631-64F7C5BC5A37}" destId="{3B66C310-479E-4FB2-8E4D-D6074B0CA4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AFE4F-3AD5-4602-9956-E8B573EF09B0}">
      <dsp:nvSpPr>
        <dsp:cNvPr id="0" name=""/>
        <dsp:cNvSpPr/>
      </dsp:nvSpPr>
      <dsp:spPr>
        <a:xfrm>
          <a:off x="0" y="22656"/>
          <a:ext cx="8688687" cy="580320"/>
        </a:xfrm>
        <a:prstGeom prst="roundRect">
          <a:avLst/>
        </a:prstGeom>
        <a:solidFill>
          <a:srgbClr val="6ECACA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kumimoji="0" lang="en-US" sz="24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Descriptive Statistics:</a:t>
          </a:r>
          <a:endParaRPr lang="fa-IR" sz="2400" kern="1200" dirty="0"/>
        </a:p>
      </dsp:txBody>
      <dsp:txXfrm>
        <a:off x="28329" y="50985"/>
        <a:ext cx="8632029" cy="523662"/>
      </dsp:txXfrm>
    </dsp:sp>
    <dsp:sp modelId="{8A9AA5EF-D610-4F3E-960D-6278C636756B}">
      <dsp:nvSpPr>
        <dsp:cNvPr id="0" name=""/>
        <dsp:cNvSpPr/>
      </dsp:nvSpPr>
      <dsp:spPr>
        <a:xfrm>
          <a:off x="0" y="602976"/>
          <a:ext cx="8688687" cy="1155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5866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kumimoji="0" lang="en-US" sz="1800" b="1" i="1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Uni-variate</a:t>
          </a:r>
          <a:endParaRPr lang="fa-IR" sz="1800" b="1" i="1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Bi-variate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0" lang="en-US" sz="1800" b="1" i="1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Regression Analysis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1" kern="1200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ROC Analysis</a:t>
          </a:r>
          <a:endParaRPr kumimoji="0" lang="en-US" sz="1800" b="1" i="1" u="none" strike="noStrike" kern="1200" cap="none" spc="0" normalizeH="0" baseline="0" noProof="0" dirty="0">
            <a:ln/>
            <a:effectLst/>
            <a:uLnTx/>
            <a:uFillTx/>
            <a:latin typeface="Times New Roman" panose="02020603050405020304" pitchFamily="18" charset="0"/>
            <a:ea typeface="Microsoft Sans Serif" panose="020B0604020202020204" pitchFamily="34" charset="0"/>
            <a:cs typeface="Times New Roman" panose="02020603050405020304" pitchFamily="18" charset="0"/>
          </a:endParaRPr>
        </a:p>
      </dsp:txBody>
      <dsp:txXfrm>
        <a:off x="0" y="602976"/>
        <a:ext cx="8688687" cy="1155060"/>
      </dsp:txXfrm>
    </dsp:sp>
    <dsp:sp modelId="{2D94BBA7-C732-496E-84EA-D962CBDD7702}">
      <dsp:nvSpPr>
        <dsp:cNvPr id="0" name=""/>
        <dsp:cNvSpPr/>
      </dsp:nvSpPr>
      <dsp:spPr>
        <a:xfrm>
          <a:off x="0" y="1758036"/>
          <a:ext cx="8688687" cy="580320"/>
        </a:xfrm>
        <a:prstGeom prst="roundRect">
          <a:avLst/>
        </a:prstGeom>
        <a:solidFill>
          <a:srgbClr val="6ECACA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 typeface="Arial" panose="020B0604020202020204" pitchFamily="34" charset="0"/>
            <a:buNone/>
          </a:pPr>
          <a:r>
            <a:rPr kumimoji="0" lang="en-US" sz="24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Inferential Analysis</a:t>
          </a:r>
          <a:endParaRPr lang="fa-IR" sz="2400" kern="1200" dirty="0"/>
        </a:p>
      </dsp:txBody>
      <dsp:txXfrm>
        <a:off x="28329" y="1786365"/>
        <a:ext cx="8632029" cy="523662"/>
      </dsp:txXfrm>
    </dsp:sp>
    <dsp:sp modelId="{77C78B9C-3404-4EEF-AC05-3D0BA1977EDF}">
      <dsp:nvSpPr>
        <dsp:cNvPr id="0" name=""/>
        <dsp:cNvSpPr/>
      </dsp:nvSpPr>
      <dsp:spPr>
        <a:xfrm>
          <a:off x="0" y="2338356"/>
          <a:ext cx="8688687" cy="1155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5866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b="1" i="1" kern="1200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Basic Concepts</a:t>
          </a:r>
          <a:endParaRPr lang="fa-IR" sz="1800" b="1" i="1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0" lang="en-US" sz="1800" b="1" i="1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Parametric Hypothesis Testing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0" lang="en-US" sz="1800" b="1" i="1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Non-Parametric Hypothesis Testing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0" lang="en-US" sz="1800" b="1" i="1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Multiple and Multivariate Hypothesis Testing</a:t>
          </a:r>
        </a:p>
      </dsp:txBody>
      <dsp:txXfrm>
        <a:off x="0" y="2338356"/>
        <a:ext cx="8688687" cy="1155060"/>
      </dsp:txXfrm>
    </dsp:sp>
    <dsp:sp modelId="{77D4C838-2344-422F-BDC5-959DD21D2D32}">
      <dsp:nvSpPr>
        <dsp:cNvPr id="0" name=""/>
        <dsp:cNvSpPr/>
      </dsp:nvSpPr>
      <dsp:spPr>
        <a:xfrm>
          <a:off x="0" y="3493416"/>
          <a:ext cx="8688687" cy="580320"/>
        </a:xfrm>
        <a:prstGeom prst="roundRect">
          <a:avLst/>
        </a:prstGeom>
        <a:solidFill>
          <a:srgbClr val="6ECACA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kumimoji="0" lang="en-US" sz="2400" b="0" i="0" u="none" strike="noStrike" kern="1200" cap="none" spc="0" normalizeH="0" baseline="0" noProof="0" dirty="0">
              <a:ln/>
              <a:effectLst/>
              <a:uLnTx/>
              <a:uFillTx/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rPr>
            <a:t>Experimental Design and Sample Size Calculations</a:t>
          </a:r>
          <a:endParaRPr lang="fa-IR" sz="2400" kern="1200" dirty="0"/>
        </a:p>
      </dsp:txBody>
      <dsp:txXfrm>
        <a:off x="28329" y="3521745"/>
        <a:ext cx="8632029" cy="523662"/>
      </dsp:txXfrm>
    </dsp:sp>
    <dsp:sp modelId="{3B66C310-479E-4FB2-8E4D-D6074B0CA435}">
      <dsp:nvSpPr>
        <dsp:cNvPr id="0" name=""/>
        <dsp:cNvSpPr/>
      </dsp:nvSpPr>
      <dsp:spPr>
        <a:xfrm>
          <a:off x="0" y="4163016"/>
          <a:ext cx="8688687" cy="580320"/>
        </a:xfrm>
        <a:prstGeom prst="roundRect">
          <a:avLst/>
        </a:prstGeom>
        <a:solidFill>
          <a:srgbClr val="6ECACA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Statistical Shape Models</a:t>
          </a:r>
          <a:endParaRPr lang="fa-IR" sz="2400" kern="1200" dirty="0"/>
        </a:p>
      </dsp:txBody>
      <dsp:txXfrm>
        <a:off x="28329" y="4191345"/>
        <a:ext cx="8632029" cy="523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1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5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2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6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3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1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0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0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8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7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67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E0F1-5E37-731E-B130-9B2050A86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C2E85-2136-8378-8FC3-C8CFA06AA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E0F05-53F8-F162-AA92-8F2D7546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E2898-51B3-E84F-8D34-8147B17CD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93A1E-4405-F33B-6E1C-59157195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1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DE0F-56E3-B1B3-CD36-04F2E1B9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C096-37E6-FE7B-66CB-3093C33FA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46636-7734-2257-1B2F-47A1114D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07BD1-1A2D-AE2F-BE9E-09F559D6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75B02-096E-DE1B-D8E8-4D279028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56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CAAE-E764-56F9-C4DA-6A21947D9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901A3-0E9B-AE63-0440-3512532C8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B8A96-382F-5CC1-40E4-E630E177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52F48-B9AF-287D-3556-692BDC28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5556-8FE8-3A25-27DA-6DCF091F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17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E9C0-F48C-7EA3-A9CA-E9A65F4C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F1B1B-0EF7-3FC9-DBF6-F42497982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2E86C-66ED-A581-F7DF-5C41CE4DC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AFD4A-CE66-6838-D9E0-D08A0823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5F43-B2FC-3FC4-32A0-D16F7045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38B2C-F4D9-D4C6-31A4-06FDD928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90C5-FFC2-AA86-25DA-A409A9AD4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92FDD-6C45-C86C-F140-AEB4722F6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F38F4-AD51-5075-CDC1-36B7DCE1D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CEF9E-C614-0CF1-A29F-510965065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866BB-7A59-30AC-61A7-E297F5C2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42AACF-7A9E-B765-4988-78AD7E19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2B7A3-90AB-0A35-7849-B5F9A131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43A57-C995-8101-E559-6101C117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4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531F-DC05-97E3-BF1F-9C9F71F4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88EB6-3EA7-6CC6-A14F-6476D3AB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0988B-4733-4164-F814-E4252124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30FBC-0119-89C8-AA16-6F9260AD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52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BA767-BF4F-B8C5-C326-21309192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F55A2-3C76-35A3-3B6C-917FA4CB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508E1-4EBB-6E5C-CB2C-70421B87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88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1342-F8ED-8054-CE8C-7D05491F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1C59-6634-3B99-F4CC-A7DFBCE26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0160A-4332-6D9C-04B9-4ED9E1933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D1FE7-805C-F016-337E-2984CA72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443E9-C5B6-8CFF-7799-90203F81B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BA6A8-0281-62FC-AB6E-9B83A0A9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34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DB31-1D04-31FF-92BE-3D3B8C1F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34125-4FE1-3F0D-2CF6-EBFA4E8EE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2666B-C2B9-DE2B-5DA2-ADF1DF4C9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5A55F-2470-83B0-BAB2-1823784B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802B3-424B-5F9B-BFCC-5A6FCD6A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4F16B-F5C3-30DB-C301-A9D449D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645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DE83-A3B7-A77F-CCCB-B386841A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91197-1B40-DD2A-DDD8-56ABE7C86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2F4A-56AE-2C59-20D2-923AC60D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EEFEE-2D5A-B45E-0940-E8CEAD79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6DC6-11D6-D497-5FD1-97398595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19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2797C-DA2D-0090-D0B8-DDF452E0E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20A01-FF68-64C1-C740-34E16F8D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F2ABC-DB0F-E1AC-C0CB-976F1CE4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83B72-6B84-76EC-8520-3C7ADB00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C6CA9-6A5E-AFB9-CADC-E3B15C11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1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4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602A4-1C52-F2AB-F2A8-1297190A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BD97C-C0E1-312E-B3B1-EC7D114F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F44E2-65BF-3DBA-16F4-BFBD6CB09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41000-987F-4943-8F3A-18DCAF2232C3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9BC57-8B3B-5416-8D91-235D0C81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4B411-3A6E-0C13-E478-FE18F3C2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86F4C-7F1B-423B-8C03-C7027B9F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7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sevier.com/books-and-journals/book-companion/9780081029398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2256563"/>
            <a:ext cx="11113830" cy="1323439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9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Statistics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20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311514"/>
            <a:ext cx="11113830" cy="584775"/>
          </a:xfrm>
          <a:prstGeom prst="rect">
            <a:avLst/>
          </a:prstGeom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9. Statistics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CD0FC-5D7D-5527-106B-EAF7D3E8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DCAE1-8B4D-6BBC-AFE5-7C7772B05E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86"/>
          <a:stretch/>
        </p:blipFill>
        <p:spPr>
          <a:xfrm>
            <a:off x="4038600" y="1170330"/>
            <a:ext cx="4114800" cy="4911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90D9B8-9823-0EF3-02F7-7337E96D3BC5}"/>
              </a:ext>
            </a:extLst>
          </p:cNvPr>
          <p:cNvSpPr txBox="1"/>
          <p:nvPr/>
        </p:nvSpPr>
        <p:spPr>
          <a:xfrm>
            <a:off x="939114" y="2921168"/>
            <a:ext cx="2821343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Codes and Data are available on: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/>
              </a:rPr>
              <a:t>https://www.elsevier.com/books-and-journals/book-companion/9780081029398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a-I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5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306751"/>
            <a:ext cx="11113830" cy="584775"/>
          </a:xfrm>
          <a:prstGeom prst="rect">
            <a:avLst/>
          </a:prstGeom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9. Statistics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CD0FC-5D7D-5527-106B-EAF7D3E8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BCB8C65-B30D-F143-690C-0A1F00073F51}"/>
              </a:ext>
            </a:extLst>
          </p:cNvPr>
          <p:cNvGraphicFramePr/>
          <p:nvPr/>
        </p:nvGraphicFramePr>
        <p:xfrm>
          <a:off x="1446856" y="1240942"/>
          <a:ext cx="8688687" cy="4765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753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04E3A59-376C-A554-C21C-0C4FEC43B51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9" y="1151412"/>
            <a:ext cx="11199222" cy="455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2413337"/>
            <a:ext cx="11113830" cy="1015663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Descriptive Statistics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48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5968-DF14-EFC0-24A2-99DD1649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7" y="28752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Basic Concepts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2535EF7-8EAD-C6E3-7BEA-311C953CA176}"/>
              </a:ext>
            </a:extLst>
          </p:cNvPr>
          <p:cNvGraphicFramePr>
            <a:graphicFrameLocks noGrp="1"/>
          </p:cNvGraphicFramePr>
          <p:nvPr/>
        </p:nvGraphicFramePr>
        <p:xfrm>
          <a:off x="1183330" y="2450668"/>
          <a:ext cx="2256156" cy="2319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156">
                  <a:extLst>
                    <a:ext uri="{9D8B030D-6E8A-4147-A177-3AD203B41FA5}">
                      <a16:colId xmlns:a16="http://schemas.microsoft.com/office/drawing/2014/main" val="3302702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Terms</a:t>
                      </a:r>
                      <a:endParaRPr lang="en-US" dirty="0">
                        <a:latin typeface="Times New Roman" panose="02020603050405020304" pitchFamily="18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0359539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Data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Population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Sample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405649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205A3-1C32-AFD9-9E72-B2F36FAC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C908D-D87D-4F50-A66A-DFDA0D1E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35BD41E3-FB6B-048B-D1C8-DF55BA1B2E99}"/>
              </a:ext>
            </a:extLst>
          </p:cNvPr>
          <p:cNvGraphicFramePr>
            <a:graphicFrameLocks noGrp="1"/>
          </p:cNvGraphicFramePr>
          <p:nvPr/>
        </p:nvGraphicFramePr>
        <p:xfrm>
          <a:off x="4347376" y="2454006"/>
          <a:ext cx="2607097" cy="19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7097">
                  <a:extLst>
                    <a:ext uri="{9D8B030D-6E8A-4147-A177-3AD203B41FA5}">
                      <a16:colId xmlns:a16="http://schemas.microsoft.com/office/drawing/2014/main" val="3302702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Variables</a:t>
                      </a:r>
                      <a:endParaRPr lang="en-US" dirty="0">
                        <a:latin typeface="Times New Roman" panose="02020603050405020304" pitchFamily="18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0359539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Uni-Variate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Bi-Variate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Multi-Variate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405649"/>
                  </a:ext>
                </a:extLst>
              </a:tr>
            </a:tbl>
          </a:graphicData>
        </a:graphic>
      </p:graphicFrame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285AA8B4-7B35-243B-E4B9-2CD39176FE93}"/>
              </a:ext>
            </a:extLst>
          </p:cNvPr>
          <p:cNvGraphicFramePr>
            <a:graphicFrameLocks noGrp="1"/>
          </p:cNvGraphicFramePr>
          <p:nvPr/>
        </p:nvGraphicFramePr>
        <p:xfrm>
          <a:off x="7862363" y="2450668"/>
          <a:ext cx="2894637" cy="2319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4637">
                  <a:extLst>
                    <a:ext uri="{9D8B030D-6E8A-4147-A177-3AD203B41FA5}">
                      <a16:colId xmlns:a16="http://schemas.microsoft.com/office/drawing/2014/main" val="3302702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Data Types</a:t>
                      </a:r>
                      <a:endParaRPr lang="en-US" dirty="0">
                        <a:latin typeface="Times New Roman" panose="02020603050405020304" pitchFamily="18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0359539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Categorical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Ranked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Discrete</a:t>
                      </a:r>
                    </a:p>
                    <a:p>
                      <a:pPr marL="742950" lvl="1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40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3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533C-3700-0CB6-4C2A-EE90FFB4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D3F8-91EE-68C6-8596-A17997AF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598"/>
            <a:ext cx="10515600" cy="93584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Univariate Data Visualization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0874-8007-F7AB-FD67-CD9A8800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34A63-10E2-1757-D5D8-1EA7FF4B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982374-CBDD-79DD-CB2F-A336ED4A1C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5" t="7771" r="2014" b="6447"/>
          <a:stretch/>
        </p:blipFill>
        <p:spPr>
          <a:xfrm>
            <a:off x="5948510" y="1251765"/>
            <a:ext cx="4426581" cy="17483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60283E-4C46-F738-2AD1-6AA4B67E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848" y="1293328"/>
            <a:ext cx="3799439" cy="42713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6AC888-657D-7871-3A93-6F96FC2ED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680" y="3184395"/>
            <a:ext cx="3799439" cy="295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07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533C-3700-0CB6-4C2A-EE90FFB4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D3F8-91EE-68C6-8596-A17997AF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832" y="0"/>
            <a:ext cx="6060337" cy="53858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Histogram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0874-8007-F7AB-FD67-CD9A8800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34A63-10E2-1757-D5D8-1EA7FF4B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D09F562-315A-DB9D-6C16-8366F6E71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975" b="11511"/>
          <a:stretch/>
        </p:blipFill>
        <p:spPr>
          <a:xfrm>
            <a:off x="372383" y="1207922"/>
            <a:ext cx="5482129" cy="4479091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7930FC4-3C8D-78E1-F850-621CFBF8FEB7}"/>
              </a:ext>
            </a:extLst>
          </p:cNvPr>
          <p:cNvGrpSpPr/>
          <p:nvPr/>
        </p:nvGrpSpPr>
        <p:grpSpPr>
          <a:xfrm>
            <a:off x="6578977" y="891988"/>
            <a:ext cx="4757491" cy="5074024"/>
            <a:chOff x="332005" y="1189183"/>
            <a:chExt cx="4757491" cy="50740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9A3CDDA-3D98-EBD5-228F-DA30B91EF124}"/>
                </a:ext>
              </a:extLst>
            </p:cNvPr>
            <p:cNvGrpSpPr/>
            <p:nvPr/>
          </p:nvGrpSpPr>
          <p:grpSpPr>
            <a:xfrm>
              <a:off x="332005" y="1189183"/>
              <a:ext cx="4619729" cy="5074024"/>
              <a:chOff x="415895" y="1282326"/>
              <a:chExt cx="4619729" cy="5074024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7D0B0DB-C238-8854-CC95-61940FA27E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4518" r="34441"/>
              <a:stretch/>
            </p:blipFill>
            <p:spPr>
              <a:xfrm>
                <a:off x="1592189" y="1282326"/>
                <a:ext cx="2281805" cy="2537012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EA52B6B-E094-EB57-563F-E3BDFE1A2D1D}"/>
                  </a:ext>
                </a:extLst>
              </p:cNvPr>
              <p:cNvGrpSpPr/>
              <p:nvPr/>
            </p:nvGrpSpPr>
            <p:grpSpPr>
              <a:xfrm>
                <a:off x="415895" y="3819338"/>
                <a:ext cx="4619729" cy="2537012"/>
                <a:chOff x="492367" y="3819338"/>
                <a:chExt cx="4619729" cy="2537012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009B1647-8F56-0514-4330-B8D73327D3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67727" r="1233"/>
                <a:stretch/>
              </p:blipFill>
              <p:spPr>
                <a:xfrm>
                  <a:off x="492367" y="3819338"/>
                  <a:ext cx="2281805" cy="2537012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F5CD5F0D-1E33-8FDB-89FF-D0F6E90F4A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r="68678"/>
                <a:stretch/>
              </p:blipFill>
              <p:spPr>
                <a:xfrm>
                  <a:off x="2809564" y="3819338"/>
                  <a:ext cx="2302532" cy="2537012"/>
                </a:xfrm>
                <a:prstGeom prst="rect">
                  <a:avLst/>
                </a:prstGeom>
              </p:spPr>
            </p:pic>
          </p:grp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563E63-1D7A-2E2E-68B8-B8A8D4FDDC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5228"/>
            <a:stretch/>
          </p:blipFill>
          <p:spPr>
            <a:xfrm>
              <a:off x="3373668" y="2436513"/>
              <a:ext cx="1715828" cy="547908"/>
            </a:xfrm>
            <a:prstGeom prst="rect">
              <a:avLst/>
            </a:prstGeom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240E9A-0479-36BE-7D02-DA9FFC0FA911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6096000" y="538586"/>
            <a:ext cx="1" cy="5817764"/>
          </a:xfrm>
          <a:prstGeom prst="line">
            <a:avLst/>
          </a:prstGeom>
          <a:ln w="12700">
            <a:solidFill>
              <a:srgbClr val="6ECAC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82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5968-DF14-EFC0-24A2-99DD1649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509" y="-39045"/>
            <a:ext cx="8338983" cy="921309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Univariate Data Measures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887FB4B5-9F1B-0F04-B920-35FD68D99D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12158" y="1052275"/>
              <a:ext cx="6207613" cy="5173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6011">
                      <a:extLst>
                        <a:ext uri="{9D8B030D-6E8A-4147-A177-3AD203B41FA5}">
                          <a16:colId xmlns:a16="http://schemas.microsoft.com/office/drawing/2014/main" val="459423256"/>
                        </a:ext>
                      </a:extLst>
                    </a:gridCol>
                    <a:gridCol w="1132703">
                      <a:extLst>
                        <a:ext uri="{9D8B030D-6E8A-4147-A177-3AD203B41FA5}">
                          <a16:colId xmlns:a16="http://schemas.microsoft.com/office/drawing/2014/main" val="4167904063"/>
                        </a:ext>
                      </a:extLst>
                    </a:gridCol>
                    <a:gridCol w="3848899">
                      <a:extLst>
                        <a:ext uri="{9D8B030D-6E8A-4147-A177-3AD203B41FA5}">
                          <a16:colId xmlns:a16="http://schemas.microsoft.com/office/drawing/2014/main" val="418020959"/>
                        </a:ext>
                      </a:extLst>
                    </a:gridCol>
                  </a:tblGrid>
                  <a:tr h="64893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Data: Asymmetric or has significant outlier(s)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Univariate Statistics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7669"/>
                      </a:ext>
                    </a:extLst>
                  </a:tr>
                  <a:tr h="62888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754268"/>
                      </a:ext>
                    </a:extLst>
                  </a:tr>
                  <a:tr h="1875206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Median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median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dirty="0">
                              <a:latin typeface="Cambria Math" panose="02040503050406030204" pitchFamily="18" charset="0"/>
                            </a:rPr>
                            <a:t>1) Sort the x in ascending or descending order</a:t>
                          </a:r>
                        </a:p>
                        <a:p>
                          <a:r>
                            <a:rPr lang="en-US" sz="1200" b="0" dirty="0"/>
                            <a:t>2)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𝑚𝑒𝑑𝑖𝑎𝑛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: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𝑜𝑑𝑑</m:t>
                                        </m:r>
                                      </m:e>
                                    </m:mr>
                                    <m:mr>
                                      <m:e>
                                        <m:f>
                                          <m:fPr>
                                            <m:type m:val="skw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: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𝑒𝑣𝑒𝑛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  <a:p>
                          <a:r>
                            <a:rPr lang="en-US" sz="1200" dirty="0"/>
                            <a:t>n: number of elements exist in x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68124"/>
                      </a:ext>
                    </a:extLst>
                  </a:tr>
                  <a:tr h="2020089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Inter-Quartile Range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iqr</a:t>
                          </a:r>
                          <a:endParaRPr lang="en-US" sz="14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dirty="0">
                              <a:latin typeface="Cambria Math" panose="02040503050406030204" pitchFamily="18" charset="0"/>
                            </a:rPr>
                            <a:t>1) Sort the x in ascending or descending order</a:t>
                          </a:r>
                        </a:p>
                        <a:p>
                          <a:r>
                            <a:rPr lang="en-US" sz="1200" b="0" dirty="0"/>
                            <a:t>2)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𝑚𝑒𝑑𝑖𝑎𝑛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4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×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4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×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12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: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𝑜𝑑𝑑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𝑠𝑎𝑚𝑒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𝑎𝑠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𝑚𝑒𝑑𝑖𝑎𝑛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𝑒𝑎𝑐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𝑞𝑢𝑎𝑟𝑡𝑖𝑙𝑒</m:t>
                                        </m:r>
                                      </m:e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: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𝑒𝑣𝑒𝑛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  <a:p>
                          <a:r>
                            <a:rPr lang="en-US" sz="1200" dirty="0"/>
                            <a:t>n: number of elements exist in x </a:t>
                          </a:r>
                        </a:p>
                        <a:p>
                          <a:endParaRPr 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3944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887FB4B5-9F1B-0F04-B920-35FD68D99DD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12158" y="1052275"/>
              <a:ext cx="6207613" cy="5173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26011">
                      <a:extLst>
                        <a:ext uri="{9D8B030D-6E8A-4147-A177-3AD203B41FA5}">
                          <a16:colId xmlns:a16="http://schemas.microsoft.com/office/drawing/2014/main" val="459423256"/>
                        </a:ext>
                      </a:extLst>
                    </a:gridCol>
                    <a:gridCol w="1132703">
                      <a:extLst>
                        <a:ext uri="{9D8B030D-6E8A-4147-A177-3AD203B41FA5}">
                          <a16:colId xmlns:a16="http://schemas.microsoft.com/office/drawing/2014/main" val="4167904063"/>
                        </a:ext>
                      </a:extLst>
                    </a:gridCol>
                    <a:gridCol w="3848899">
                      <a:extLst>
                        <a:ext uri="{9D8B030D-6E8A-4147-A177-3AD203B41FA5}">
                          <a16:colId xmlns:a16="http://schemas.microsoft.com/office/drawing/2014/main" val="418020959"/>
                        </a:ext>
                      </a:extLst>
                    </a:gridCol>
                  </a:tblGrid>
                  <a:tr h="64893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Data: Asymmetric or has significant outlier(s)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Univariate Statistics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17669"/>
                      </a:ext>
                    </a:extLst>
                  </a:tr>
                  <a:tr h="62888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754268"/>
                      </a:ext>
                    </a:extLst>
                  </a:tr>
                  <a:tr h="1875206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Median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median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392" t="-68506" r="-316" b="-1084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68124"/>
                      </a:ext>
                    </a:extLst>
                  </a:tr>
                  <a:tr h="2020089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Inter-Quartile Range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iqr</a:t>
                          </a:r>
                          <a:endParaRPr lang="en-US" sz="14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392" t="-156325" r="-316" b="-6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3944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E7D41-B6A5-7734-AF2D-0A4FD779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38063-64CA-52AD-1A6A-AE81E486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26C1CE-AB0A-3CA7-7DD6-08310FD6FD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8463" y="3291113"/>
              <a:ext cx="4471540" cy="29342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5942">
                      <a:extLst>
                        <a:ext uri="{9D8B030D-6E8A-4147-A177-3AD203B41FA5}">
                          <a16:colId xmlns:a16="http://schemas.microsoft.com/office/drawing/2014/main" val="4146882129"/>
                        </a:ext>
                      </a:extLst>
                    </a:gridCol>
                    <a:gridCol w="1105402">
                      <a:extLst>
                        <a:ext uri="{9D8B030D-6E8A-4147-A177-3AD203B41FA5}">
                          <a16:colId xmlns:a16="http://schemas.microsoft.com/office/drawing/2014/main" val="1883317455"/>
                        </a:ext>
                      </a:extLst>
                    </a:gridCol>
                    <a:gridCol w="2290196">
                      <a:extLst>
                        <a:ext uri="{9D8B030D-6E8A-4147-A177-3AD203B41FA5}">
                          <a16:colId xmlns:a16="http://schemas.microsoft.com/office/drawing/2014/main" val="1725884214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Data: Symmetric with no outliers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3388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732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450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Standard Deviation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std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607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Variance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var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905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C26C1CE-AB0A-3CA7-7DD6-08310FD6FD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8463" y="3291113"/>
              <a:ext cx="4471540" cy="29342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5942">
                      <a:extLst>
                        <a:ext uri="{9D8B030D-6E8A-4147-A177-3AD203B41FA5}">
                          <a16:colId xmlns:a16="http://schemas.microsoft.com/office/drawing/2014/main" val="4146882129"/>
                        </a:ext>
                      </a:extLst>
                    </a:gridCol>
                    <a:gridCol w="1105402">
                      <a:extLst>
                        <a:ext uri="{9D8B030D-6E8A-4147-A177-3AD203B41FA5}">
                          <a16:colId xmlns:a16="http://schemas.microsoft.com/office/drawing/2014/main" val="1883317455"/>
                        </a:ext>
                      </a:extLst>
                    </a:gridCol>
                    <a:gridCol w="2290196">
                      <a:extLst>
                        <a:ext uri="{9D8B030D-6E8A-4147-A177-3AD203B41FA5}">
                          <a16:colId xmlns:a16="http://schemas.microsoft.com/office/drawing/2014/main" val="1725884214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Data: Symmetric with no outliers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33881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1732988"/>
                      </a:ext>
                    </a:extLst>
                  </a:tr>
                  <a:tr h="5906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mean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479" t="-160204" r="-532" b="-381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450051"/>
                      </a:ext>
                    </a:extLst>
                  </a:tr>
                  <a:tr h="80295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Standard Deviation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std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479" t="-193182" r="-532" b="-1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607952"/>
                      </a:ext>
                    </a:extLst>
                  </a:tr>
                  <a:tr h="59067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Variance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var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6ECACA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479" t="-398969" r="-532" b="-1494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9053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648F393-F7A7-F82E-EBD8-59C3DA2213D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8463" y="1052274"/>
              <a:ext cx="4471540" cy="2068829"/>
            </p:xfrm>
            <a:graphic>
              <a:graphicData uri="http://schemas.openxmlformats.org/drawingml/2006/table">
                <a:tbl>
                  <a:tblPr firstRow="1" bandRow="1">
                    <a:solidFill>
                      <a:srgbClr val="6ECACA">
                        <a:alpha val="30196"/>
                      </a:srgbClr>
                    </a:solidFill>
                    <a:tableStyleId>{5940675A-B579-460E-94D1-54222C63F5DA}</a:tableStyleId>
                  </a:tblPr>
                  <a:tblGrid>
                    <a:gridCol w="1032063">
                      <a:extLst>
                        <a:ext uri="{9D8B030D-6E8A-4147-A177-3AD203B41FA5}">
                          <a16:colId xmlns:a16="http://schemas.microsoft.com/office/drawing/2014/main" val="4146882129"/>
                        </a:ext>
                      </a:extLst>
                    </a:gridCol>
                    <a:gridCol w="1082179">
                      <a:extLst>
                        <a:ext uri="{9D8B030D-6E8A-4147-A177-3AD203B41FA5}">
                          <a16:colId xmlns:a16="http://schemas.microsoft.com/office/drawing/2014/main" val="1883317455"/>
                        </a:ext>
                      </a:extLst>
                    </a:gridCol>
                    <a:gridCol w="2357298">
                      <a:extLst>
                        <a:ext uri="{9D8B030D-6E8A-4147-A177-3AD203B41FA5}">
                          <a16:colId xmlns:a16="http://schemas.microsoft.com/office/drawing/2014/main" val="1725884214"/>
                        </a:ext>
                      </a:extLst>
                    </a:gridCol>
                  </a:tblGrid>
                  <a:tr h="46830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Data: General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338817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1732988"/>
                      </a:ext>
                    </a:extLst>
                  </a:tr>
                  <a:tr h="553095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Mode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mode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The most frequent value in data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9450051"/>
                      </a:ext>
                    </a:extLst>
                  </a:tr>
                  <a:tr h="468307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Range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range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𝑅𝑎𝑛𝑔𝑒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46079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648F393-F7A7-F82E-EBD8-59C3DA2213D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88463" y="1052274"/>
              <a:ext cx="4471540" cy="2068829"/>
            </p:xfrm>
            <a:graphic>
              <a:graphicData uri="http://schemas.openxmlformats.org/drawingml/2006/table">
                <a:tbl>
                  <a:tblPr firstRow="1" bandRow="1">
                    <a:solidFill>
                      <a:srgbClr val="6ECACA">
                        <a:alpha val="30196"/>
                      </a:srgbClr>
                    </a:solidFill>
                    <a:tableStyleId>{5940675A-B579-460E-94D1-54222C63F5DA}</a:tableStyleId>
                  </a:tblPr>
                  <a:tblGrid>
                    <a:gridCol w="1032063">
                      <a:extLst>
                        <a:ext uri="{9D8B030D-6E8A-4147-A177-3AD203B41FA5}">
                          <a16:colId xmlns:a16="http://schemas.microsoft.com/office/drawing/2014/main" val="4146882129"/>
                        </a:ext>
                      </a:extLst>
                    </a:gridCol>
                    <a:gridCol w="1082179">
                      <a:extLst>
                        <a:ext uri="{9D8B030D-6E8A-4147-A177-3AD203B41FA5}">
                          <a16:colId xmlns:a16="http://schemas.microsoft.com/office/drawing/2014/main" val="1883317455"/>
                        </a:ext>
                      </a:extLst>
                    </a:gridCol>
                    <a:gridCol w="2357298">
                      <a:extLst>
                        <a:ext uri="{9D8B030D-6E8A-4147-A177-3AD203B41FA5}">
                          <a16:colId xmlns:a16="http://schemas.microsoft.com/office/drawing/2014/main" val="1725884214"/>
                        </a:ext>
                      </a:extLst>
                    </a:gridCol>
                  </a:tblGrid>
                  <a:tr h="468307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Data: General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33881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1732988"/>
                      </a:ext>
                    </a:extLst>
                  </a:tr>
                  <a:tr h="553095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Mode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mode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The most frequent value in data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9450051"/>
                      </a:ext>
                    </a:extLst>
                  </a:tr>
                  <a:tr h="468307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Range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range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9922" t="-342857" r="-517" b="-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60795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DECDB41-DF67-58D5-D809-BAF09F963078}"/>
              </a:ext>
            </a:extLst>
          </p:cNvPr>
          <p:cNvGrpSpPr/>
          <p:nvPr/>
        </p:nvGrpSpPr>
        <p:grpSpPr>
          <a:xfrm>
            <a:off x="1018534" y="671294"/>
            <a:ext cx="10385003" cy="5633862"/>
            <a:chOff x="629818" y="722488"/>
            <a:chExt cx="10385003" cy="56338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06777FF-135A-F0D0-B65A-E32104691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9818" y="722488"/>
              <a:ext cx="5155296" cy="55683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942234-4ED4-7611-D7EC-160B65BC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85114" y="787970"/>
              <a:ext cx="5229707" cy="5568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6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533C-3700-0CB6-4C2A-EE90FFB4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D3F8-91EE-68C6-8596-A17997AF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598"/>
            <a:ext cx="10515600" cy="93584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Bivariate Data Visualization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0874-8007-F7AB-FD67-CD9A8800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34A63-10E2-1757-D5D8-1EA7FF4B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DA93B-F56F-D71B-F5C4-0E5A0CDC5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96" y="970521"/>
            <a:ext cx="2990850" cy="23955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8E451-9EBB-65B5-9A86-B167730B5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323" y="895807"/>
            <a:ext cx="3231908" cy="254498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BBFCE94-B53F-F0EA-E86A-8F05BCD409D5}"/>
              </a:ext>
            </a:extLst>
          </p:cNvPr>
          <p:cNvGrpSpPr/>
          <p:nvPr/>
        </p:nvGrpSpPr>
        <p:grpSpPr>
          <a:xfrm>
            <a:off x="6839756" y="3429000"/>
            <a:ext cx="5246585" cy="2879829"/>
            <a:chOff x="6373915" y="3429000"/>
            <a:chExt cx="5246585" cy="28798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6146CEA-1830-3E0E-4BF7-97E899BF1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10600" y="4546704"/>
              <a:ext cx="3009900" cy="17621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324B321-31BF-0632-CBC2-64D77DEF2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3915" y="3429000"/>
              <a:ext cx="2781300" cy="190500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23EF9D1-BA6F-356E-4130-7AAEE1AC2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359" y="927267"/>
            <a:ext cx="3123393" cy="25449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4A913AF-B424-20CD-B602-3852A395F144}"/>
              </a:ext>
            </a:extLst>
          </p:cNvPr>
          <p:cNvGrpSpPr/>
          <p:nvPr/>
        </p:nvGrpSpPr>
        <p:grpSpPr>
          <a:xfrm>
            <a:off x="624796" y="3609870"/>
            <a:ext cx="6358219" cy="2746480"/>
            <a:chOff x="624796" y="3609870"/>
            <a:chExt cx="6358219" cy="274648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544815A-BEE8-8EBA-6DB2-BA6D6EC549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426" r="6269"/>
            <a:stretch/>
          </p:blipFill>
          <p:spPr>
            <a:xfrm>
              <a:off x="624796" y="3609870"/>
              <a:ext cx="3093898" cy="269895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C28D6C3-11FD-1E89-AAA3-31F15772E9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928" r="6734"/>
            <a:stretch/>
          </p:blipFill>
          <p:spPr>
            <a:xfrm>
              <a:off x="3889117" y="3657391"/>
              <a:ext cx="3093898" cy="26989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278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56BD-7D08-9BBB-1C43-4CAFF548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9DEF-538E-9679-768F-C03285FC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517"/>
            <a:ext cx="10515600" cy="61579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Bivariate Data Measures</a:t>
            </a:r>
            <a:endParaRPr lang="en-US" sz="3200" i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30ACE-7BC0-5520-0EC0-539B92B1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DB0D8-ADB3-DB3F-C064-D795A38B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0745"/>
            <a:ext cx="4114800" cy="365125"/>
          </a:xfrm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2648C4AB-9048-A17D-D549-DE364E7E8A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6268" y="677940"/>
              <a:ext cx="10719464" cy="569128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35721">
                      <a:extLst>
                        <a:ext uri="{9D8B030D-6E8A-4147-A177-3AD203B41FA5}">
                          <a16:colId xmlns:a16="http://schemas.microsoft.com/office/drawing/2014/main" val="459423256"/>
                        </a:ext>
                      </a:extLst>
                    </a:gridCol>
                    <a:gridCol w="1506828">
                      <a:extLst>
                        <a:ext uri="{9D8B030D-6E8A-4147-A177-3AD203B41FA5}">
                          <a16:colId xmlns:a16="http://schemas.microsoft.com/office/drawing/2014/main" val="4167904063"/>
                        </a:ext>
                      </a:extLst>
                    </a:gridCol>
                    <a:gridCol w="7076915">
                      <a:extLst>
                        <a:ext uri="{9D8B030D-6E8A-4147-A177-3AD203B41FA5}">
                          <a16:colId xmlns:a16="http://schemas.microsoft.com/office/drawing/2014/main" val="418020959"/>
                        </a:ext>
                      </a:extLst>
                    </a:gridCol>
                  </a:tblGrid>
                  <a:tr h="5077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754268"/>
                      </a:ext>
                    </a:extLst>
                  </a:tr>
                  <a:tr h="9706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Covariance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𝑐𝑜𝑣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)(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609948"/>
                      </a:ext>
                    </a:extLst>
                  </a:tr>
                  <a:tr h="9706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Pearson’s Correlation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</a:t>
                          </a: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,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corrcoef</a:t>
                          </a:r>
                          <a:endParaRPr lang="en-US" sz="16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)(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ctrlPr>
                                                  <a:rPr lang="en-US" sz="20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m:rPr>
                                                    <m:brk m:alnAt="23"/>
                                                  </m:r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=</m:t>
                                                </m:r>
                                                <m:r>
                                                  <m:rPr>
                                                    <m:brk m:alnAt="23"/>
                                                  </m:r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p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</m:t>
                                                        </m:r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  <m: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)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nary>
                                          </m:e>
                                        </m:rad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ctrlPr>
                                                  <a:rPr lang="en-US" sz="20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m:rPr>
                                                    <m:brk m:alnAt="23"/>
                                                  </m:r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=</m:t>
                                                </m:r>
                                                <m:r>
                                                  <m:rPr>
                                                    <m:brk m:alnAt="23"/>
                                                  </m:r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p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(</m:t>
                                                        </m:r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sz="20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</m:acc>
                                                    <m: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)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20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nary>
                                          </m:e>
                                        </m:rad>
                                      </m:den>
                                    </m:f>
                                  </m:e>
                                </m:nary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68124"/>
                      </a:ext>
                    </a:extLst>
                  </a:tr>
                  <a:tr h="83029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Spearman’s Rank Correlation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</a:t>
                          </a:r>
                          <a:endParaRPr lang="en-US" sz="16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𝑠𝑜𝑟𝑡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𝑠𝑜𝑟𝑡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545808"/>
                      </a:ext>
                    </a:extLst>
                  </a:tr>
                  <a:tr h="221834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Kendall’s Tau Correlation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</a:t>
                          </a:r>
                          <a:endParaRPr lang="en-US" sz="16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𝜉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&gt;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 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𝑖𝑓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  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70089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2648C4AB-9048-A17D-D549-DE364E7E8A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6268" y="677940"/>
              <a:ext cx="10719464" cy="569128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35721">
                      <a:extLst>
                        <a:ext uri="{9D8B030D-6E8A-4147-A177-3AD203B41FA5}">
                          <a16:colId xmlns:a16="http://schemas.microsoft.com/office/drawing/2014/main" val="459423256"/>
                        </a:ext>
                      </a:extLst>
                    </a:gridCol>
                    <a:gridCol w="1506828">
                      <a:extLst>
                        <a:ext uri="{9D8B030D-6E8A-4147-A177-3AD203B41FA5}">
                          <a16:colId xmlns:a16="http://schemas.microsoft.com/office/drawing/2014/main" val="4167904063"/>
                        </a:ext>
                      </a:extLst>
                    </a:gridCol>
                    <a:gridCol w="7076915">
                      <a:extLst>
                        <a:ext uri="{9D8B030D-6E8A-4147-A177-3AD203B41FA5}">
                          <a16:colId xmlns:a16="http://schemas.microsoft.com/office/drawing/2014/main" val="418020959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Operation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>
                              <a:latin typeface="Times New Roman" panose="02020603050405020304" pitchFamily="18" charset="0"/>
                              <a:ea typeface="Microsoft Sans Serif" panose="020B0604020202020204" pitchFamily="34" charset="0"/>
                              <a:cs typeface="Times New Roman" panose="02020603050405020304" pitchFamily="18" charset="0"/>
                            </a:rPr>
                            <a:t>MATLAB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9754268"/>
                      </a:ext>
                    </a:extLst>
                  </a:tr>
                  <a:tr h="9706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Covariance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549" t="-75472" r="-172" b="-416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609948"/>
                      </a:ext>
                    </a:extLst>
                  </a:tr>
                  <a:tr h="9706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Pearson’s Correlation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</a:t>
                          </a: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,</a:t>
                          </a:r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corrcoef</a:t>
                          </a:r>
                          <a:endParaRPr lang="en-US" sz="16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549" t="-174375" r="-172" b="-31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68124"/>
                      </a:ext>
                    </a:extLst>
                  </a:tr>
                  <a:tr h="83029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Spearman’s Rank Correlation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</a:t>
                          </a:r>
                          <a:endParaRPr lang="en-US" sz="16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549" t="-322794" r="-172" b="-269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545808"/>
                      </a:ext>
                    </a:extLst>
                  </a:tr>
                  <a:tr h="221869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</a:pPr>
                          <a:r>
                            <a:rPr lang="en-US" sz="1600" dirty="0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Kendall’s Tau Correlation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sz="1600" dirty="0" err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a:t>corr</a:t>
                          </a:r>
                          <a:endParaRPr lang="en-US" sz="1600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Microsoft Sans Serif" panose="020B060402020202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3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a-I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549" t="-157967" r="-172" b="-5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70089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B85D73E-4868-9CA1-0AA0-863732FA7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2" t="8378"/>
          <a:stretch/>
        </p:blipFill>
        <p:spPr>
          <a:xfrm>
            <a:off x="1760964" y="640072"/>
            <a:ext cx="8470663" cy="571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2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5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F56BD-7D08-9BBB-1C43-4CAFF548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30ACE-7BC0-5520-0EC0-539B92B1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DB0D8-ADB3-DB3F-C064-D795A38B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17713"/>
            <a:ext cx="4114800" cy="365125"/>
          </a:xfrm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886870-31AA-CB59-8F6F-3310FF95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43100"/>
            <a:ext cx="12192000" cy="2971799"/>
          </a:xfrm>
          <a:gradFill flip="none" rotWithShape="1">
            <a:gsLst>
              <a:gs pos="50000">
                <a:srgbClr val="6ECACA">
                  <a:alpha val="90000"/>
                  <a:lumMod val="81000"/>
                  <a:lumOff val="19000"/>
                </a:srgbClr>
              </a:gs>
              <a:gs pos="51000">
                <a:schemeClr val="accent1">
                  <a:lumMod val="45000"/>
                  <a:lumOff val="55000"/>
                </a:schemeClr>
              </a:gs>
              <a:gs pos="78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>
            <a:normAutofit/>
          </a:bodyPr>
          <a:lstStyle/>
          <a:p>
            <a:pPr algn="ctr"/>
            <a:r>
              <a:rPr lang="en-US" sz="7200" i="1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P-Value</a:t>
            </a:r>
            <a:endParaRPr lang="fa-IR" sz="7200" i="1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38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Regression Analysis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FD3-CDB5-5550-C82E-56A5F99F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792" y="2027313"/>
            <a:ext cx="2514820" cy="234439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polyfit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5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polyval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98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29C4-7749-9D6A-B229-BF2FF9F8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C4311-7370-FC8F-CD38-78B0FD3EF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4228"/>
            <a:ext cx="10515600" cy="51703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Descriptive Statistics 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– </a:t>
            </a:r>
            <a:r>
              <a:rPr lang="en-US" sz="31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ROC Analysis</a:t>
            </a:r>
            <a:endParaRPr lang="en-US" sz="3200" i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5A3818-C934-9EF6-7B70-8A14011F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41328-0726-01DC-C133-77A9DB3CF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E895EE-D42B-E27C-EDC5-430F5F32850F}"/>
              </a:ext>
            </a:extLst>
          </p:cNvPr>
          <p:cNvGraphicFramePr>
            <a:graphicFrameLocks noGrp="1"/>
          </p:cNvGraphicFramePr>
          <p:nvPr/>
        </p:nvGraphicFramePr>
        <p:xfrm>
          <a:off x="1274192" y="1278582"/>
          <a:ext cx="3708720" cy="1649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4360">
                  <a:extLst>
                    <a:ext uri="{9D8B030D-6E8A-4147-A177-3AD203B41FA5}">
                      <a16:colId xmlns:a16="http://schemas.microsoft.com/office/drawing/2014/main" val="2979338759"/>
                    </a:ext>
                  </a:extLst>
                </a:gridCol>
                <a:gridCol w="1854360">
                  <a:extLst>
                    <a:ext uri="{9D8B030D-6E8A-4147-A177-3AD203B41FA5}">
                      <a16:colId xmlns:a16="http://schemas.microsoft.com/office/drawing/2014/main" val="504772834"/>
                    </a:ext>
                  </a:extLst>
                </a:gridCol>
              </a:tblGrid>
              <a:tr h="8245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</a:t>
                      </a:r>
                    </a:p>
                    <a:p>
                      <a:pPr algn="ctr"/>
                      <a:r>
                        <a:rPr lang="en-US" dirty="0"/>
                        <a:t>(TP)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</a:t>
                      </a:r>
                    </a:p>
                    <a:p>
                      <a:pPr algn="ctr"/>
                      <a:r>
                        <a:rPr lang="en-US" dirty="0"/>
                        <a:t>(FP)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891"/>
                  </a:ext>
                </a:extLst>
              </a:tr>
              <a:tr h="8245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</a:t>
                      </a:r>
                    </a:p>
                    <a:p>
                      <a:pPr algn="ctr"/>
                      <a:r>
                        <a:rPr lang="en-US" dirty="0"/>
                        <a:t>(FN)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</a:t>
                      </a:r>
                    </a:p>
                    <a:p>
                      <a:pPr algn="ctr"/>
                      <a:r>
                        <a:rPr lang="en-US" dirty="0"/>
                        <a:t>(TN)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6147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C337D2-9296-97C8-29C8-D6DFFF995308}"/>
              </a:ext>
            </a:extLst>
          </p:cNvPr>
          <p:cNvSpPr txBox="1"/>
          <p:nvPr/>
        </p:nvSpPr>
        <p:spPr>
          <a:xfrm>
            <a:off x="1125988" y="47200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9A9AC3-CBE8-5C76-500D-FBA904A3D83A}"/>
              </a:ext>
            </a:extLst>
          </p:cNvPr>
          <p:cNvGraphicFramePr>
            <a:graphicFrameLocks noGrp="1"/>
          </p:cNvGraphicFramePr>
          <p:nvPr/>
        </p:nvGraphicFramePr>
        <p:xfrm>
          <a:off x="5768146" y="1295217"/>
          <a:ext cx="5684908" cy="4715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7918">
                  <a:extLst>
                    <a:ext uri="{9D8B030D-6E8A-4147-A177-3AD203B41FA5}">
                      <a16:colId xmlns:a16="http://schemas.microsoft.com/office/drawing/2014/main" val="747428111"/>
                    </a:ext>
                  </a:extLst>
                </a:gridCol>
                <a:gridCol w="3816990">
                  <a:extLst>
                    <a:ext uri="{9D8B030D-6E8A-4147-A177-3AD203B41FA5}">
                      <a16:colId xmlns:a16="http://schemas.microsoft.com/office/drawing/2014/main" val="4209186980"/>
                    </a:ext>
                  </a:extLst>
                </a:gridCol>
              </a:tblGrid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Accuracy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Ac = (TP+TN)/(TP+FP+TN+FN)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118164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Sensitivity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 = TP/(TP+FN)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898633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Specificity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Sp</a:t>
                      </a:r>
                      <a:r>
                        <a:rPr lang="en-US" sz="1800" dirty="0"/>
                        <a:t> = TN/(TN+FP) = 1- FPR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81022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Positive Predictive Value (Precision)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PPV = TP/(TP + FP)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169615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Negative Predictive Value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NPV = TN/(TN + FN)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463726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False Positive Rate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FPR = FP/(FP+TN) = 1 - </a:t>
                      </a:r>
                      <a:r>
                        <a:rPr lang="en-US" sz="1800" dirty="0" err="1"/>
                        <a:t>Sp</a:t>
                      </a:r>
                      <a:endParaRPr lang="en-US" sz="1800" dirty="0"/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794972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Recall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Re = TP/(TP+FN)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498912"/>
                  </a:ext>
                </a:extLst>
              </a:tr>
              <a:tr h="58938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F1 Score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F1 = 2TP/(2TP+FP+FN)</a:t>
                      </a:r>
                    </a:p>
                  </a:txBody>
                  <a:tcPr anchor="ctr">
                    <a:solidFill>
                      <a:srgbClr val="D3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690298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243430E1-DB74-17CD-C6E1-133741C4EB20}"/>
              </a:ext>
            </a:extLst>
          </p:cNvPr>
          <p:cNvGrpSpPr/>
          <p:nvPr/>
        </p:nvGrpSpPr>
        <p:grpSpPr>
          <a:xfrm>
            <a:off x="6522309" y="1093295"/>
            <a:ext cx="4382621" cy="5111146"/>
            <a:chOff x="6420608" y="-261817"/>
            <a:chExt cx="3025117" cy="406136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F17C008-3A54-93E7-BECC-6975D7821C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4779" y="-261817"/>
              <a:ext cx="1490946" cy="200241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5EEA964-C40B-258D-5F0E-4CC814C65F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0608" y="-261817"/>
              <a:ext cx="1490945" cy="200241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F7019C5-B54D-5877-4095-3F29E2D11A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0608" y="1797134"/>
              <a:ext cx="1490946" cy="200241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CE4868D-E33F-0747-A7F3-F918B64071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4778" y="1793088"/>
              <a:ext cx="1490946" cy="200241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5" name="Group 4">
            <a:extLst>
              <a:ext uri="{FF2B5EF4-FFF2-40B4-BE49-F238E27FC236}">
                <a16:creationId xmlns:a16="http://schemas.microsoft.com/office/drawing/2014/main" id="{031DD803-48F8-F65B-19BB-EF1A849CBA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17121" y="3147241"/>
            <a:ext cx="3765550" cy="3094038"/>
            <a:chOff x="767" y="1980"/>
            <a:chExt cx="2372" cy="1949"/>
          </a:xfrm>
        </p:grpSpPr>
        <p:sp>
          <p:nvSpPr>
            <p:cNvPr id="17" name="AutoShape 3">
              <a:extLst>
                <a:ext uri="{FF2B5EF4-FFF2-40B4-BE49-F238E27FC236}">
                  <a16:creationId xmlns:a16="http://schemas.microsoft.com/office/drawing/2014/main" id="{2536AA26-4222-43D9-7E57-F16BECB2BD2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67" y="1980"/>
              <a:ext cx="2372" cy="1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78B6FC96-CA59-765B-9385-F23B732977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" y="1980"/>
              <a:ext cx="2376" cy="1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561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2413337"/>
            <a:ext cx="11113830" cy="1015663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Inferential Statistics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58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6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Basic Concepts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FD3-CDB5-5550-C82E-56A5F99F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712" y="1093598"/>
            <a:ext cx="6224670" cy="489426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Probability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Single Event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Multiple Events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Probability Distribution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Normal Distribution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Central Limit Theorem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Standard Error Of The Mean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Confidence Intervals Of The Mean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72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72" y="68424"/>
            <a:ext cx="10515600" cy="80503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- </a:t>
            </a:r>
            <a:r>
              <a:rPr kumimoji="0" lang="en-US" sz="2800" b="0" i="1" u="none" strike="noStrike" cap="none" spc="0" normalizeH="0" baseline="0" noProof="0" dirty="0">
                <a:ln/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Parametric Hypothesis Testing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FD3-CDB5-5550-C82E-56A5F99F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242" y="777922"/>
            <a:ext cx="6385448" cy="5389999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200000"/>
              </a:lnSpc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Hypothesis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Null Hypothesis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Alternative Hypothesis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Type I Error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Type II Error</a:t>
            </a:r>
          </a:p>
          <a:p>
            <a:pPr lvl="1">
              <a:lnSpc>
                <a:spcPct val="200000"/>
              </a:lnSpc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Hypothesis Testing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One sample.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Two-sample paired data.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Two-sample unpaired data</a:t>
            </a:r>
          </a:p>
          <a:p>
            <a:pPr lvl="1">
              <a:lnSpc>
                <a:spcPct val="200000"/>
              </a:lnSpc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t-Distribution Test &amp; Student’s t-Test</a:t>
            </a:r>
          </a:p>
          <a:p>
            <a:pPr lvl="1">
              <a:lnSpc>
                <a:spcPct val="200000"/>
              </a:lnSpc>
            </a:pPr>
            <a:r>
              <a:rPr lang="en-US" sz="26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z-Test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25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51" y="15353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Non-Parametric</a:t>
            </a:r>
            <a:r>
              <a:rPr kumimoji="0" lang="en-US" sz="2800" b="0" i="1" u="none" strike="noStrike" cap="none" spc="0" normalizeH="0" baseline="0" noProof="0" dirty="0">
                <a:ln/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Hypothesis Testing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FD3-CDB5-5550-C82E-56A5F99F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249" y="1323833"/>
            <a:ext cx="6224670" cy="4926841"/>
          </a:xfrm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Sign Test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Wilcoxon Signed Rank Test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Mann–Whitney U Test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Chi-Square Test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Choosing a Hypothesis Test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16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58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- </a:t>
            </a:r>
            <a:r>
              <a:rPr kumimoji="0" lang="en-US" sz="2800" b="0" i="1" u="none" strike="noStrike" cap="none" spc="0" normalizeH="0" baseline="0" noProof="0" dirty="0">
                <a:ln/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Multiple and Multivariate Hypothesis Testing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4DBFD3-CDB5-5550-C82E-56A5F99F4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8452" y="1496231"/>
                <a:ext cx="7746242" cy="4611166"/>
              </a:xfrm>
            </p:spPr>
            <p:txBody>
              <a:bodyPr>
                <a:normAutofit/>
              </a:bodyPr>
              <a:lstStyle/>
              <a:p>
                <a:pPr lvl="1">
                  <a:lnSpc>
                    <a:spcPct val="200000"/>
                  </a:lnSpc>
                </a:pPr>
                <a:r>
                  <a:rPr lang="en-US" sz="2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Multiple Hypothesis Testing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Bonferroni’s Correction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Analysis of Variance (ANOVA)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sz="2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Multivariate Hypothesis Testing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Hoteling's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i="0" dirty="0" err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-Test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Multivariate Analysis of Variance (MANOVA)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n-US" sz="2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Which Test Should We Use?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4DBFD3-CDB5-5550-C82E-56A5F99F4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8452" y="1496231"/>
                <a:ext cx="7746242" cy="46111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2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2413337"/>
            <a:ext cx="11113830" cy="1015663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Complementary Topics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35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1" y="0"/>
            <a:ext cx="11409529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</a:t>
            </a:r>
            <a:r>
              <a:rPr lang="en-US" sz="36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Experimental Design and Sample Size Calculations</a:t>
            </a:r>
            <a:endParaRPr 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FD3-CDB5-5550-C82E-56A5F99F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57" y="1107198"/>
            <a:ext cx="8201127" cy="524915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Experimental And Observational Studies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Random And Systematic Error (Bias)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Reducing Random And Systematic Errors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Blocking (Matching) Test and Control Subjects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Blinding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Multiple Measurement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Randomization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Sample Size And Power Calculations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Illustration of a Power Calculation for a Single Sample t-test</a:t>
            </a:r>
          </a:p>
          <a:p>
            <a:pPr lvl="2">
              <a:lnSpc>
                <a:spcPct val="100000"/>
              </a:lnSpc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Illustration of a Sample Size Calculation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05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DA03-2366-A8C5-7081-6D175D17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2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- </a:t>
            </a:r>
            <a:r>
              <a:rPr lang="en-US" sz="2800" i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Statistical Shape Models (SSMs)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BFD3-CDB5-5550-C82E-56A5F99F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817" y="1462088"/>
            <a:ext cx="7245783" cy="4774392"/>
          </a:xfrm>
        </p:spPr>
        <p:txBody>
          <a:bodyPr>
            <a:normAutofit fontScale="92500"/>
          </a:bodyPr>
          <a:lstStyle/>
          <a:p>
            <a:pPr lvl="1">
              <a:lnSpc>
                <a:spcPct val="200000"/>
              </a:lnSpc>
            </a:pPr>
            <a:r>
              <a:rPr lang="en-US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SSMs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Dimensionality Reduction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Forming An </a:t>
            </a:r>
            <a:r>
              <a:rPr lang="en-US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SSM</a:t>
            </a:r>
            <a:endParaRPr lang="en-US" sz="2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lvl="2">
              <a:lnSpc>
                <a:spcPct val="1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Parameterize the Shape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Align the Centroids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Compute the Mean Shape Vector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Compute the Covariance Matrix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Compute the Eigenvectors and Eigenvalues</a:t>
            </a:r>
          </a:p>
          <a:p>
            <a:pPr lvl="1">
              <a:lnSpc>
                <a:spcPct val="200000"/>
              </a:lnSpc>
            </a:pP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Producing New Shapes From An </a:t>
            </a:r>
            <a:r>
              <a:rPr lang="en-US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SSM</a:t>
            </a:r>
            <a:endParaRPr lang="en-US" sz="2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57BB39-C337-BF88-5E81-DE7A0313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6FD7A-92E2-F169-65F8-E56923A5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00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CA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1EFE9-4698-01A8-0945-0B7B725C1CAB}"/>
              </a:ext>
            </a:extLst>
          </p:cNvPr>
          <p:cNvSpPr txBox="1"/>
          <p:nvPr/>
        </p:nvSpPr>
        <p:spPr>
          <a:xfrm>
            <a:off x="539085" y="2598003"/>
            <a:ext cx="11113830" cy="830997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Supplementary Topics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78E274-77F3-AD88-C756-5B80E5D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39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0025-B255-7774-3587-5D147638B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732" y="1958982"/>
            <a:ext cx="7098536" cy="2940035"/>
          </a:xfrm>
        </p:spPr>
        <p:txBody>
          <a:bodyPr numCol="2" anchor="ctr">
            <a:normAutofit/>
          </a:bodyPr>
          <a:lstStyle/>
          <a:p>
            <a:pPr>
              <a:lnSpc>
                <a:spcPct val="220000"/>
              </a:lnSpc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cdfplot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20000"/>
              </a:lnSpc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ecdf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20000"/>
              </a:lnSpc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probplot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20000"/>
              </a:lnSpc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normplot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20000"/>
              </a:lnSpc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wblplot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220000"/>
              </a:lnSpc>
            </a:pP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qqplot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9D1C4D-06BA-C44E-2EA9-7615ABEC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6AD1F-23F4-773A-12C0-2659BB03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CF97F1-1672-9F4C-0109-58413FC4BE61}"/>
              </a:ext>
            </a:extLst>
          </p:cNvPr>
          <p:cNvSpPr txBox="1">
            <a:spLocks/>
          </p:cNvSpPr>
          <p:nvPr/>
        </p:nvSpPr>
        <p:spPr>
          <a:xfrm>
            <a:off x="334861" y="607002"/>
            <a:ext cx="10515600" cy="62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Some Statistical Plots</a:t>
            </a:r>
          </a:p>
        </p:txBody>
      </p:sp>
    </p:spTree>
    <p:extLst>
      <p:ext uri="{BB962C8B-B14F-4D97-AF65-F5344CB8AC3E}">
        <p14:creationId xmlns:p14="http://schemas.microsoft.com/office/powerpoint/2010/main" val="3983092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0025-B255-7774-3587-5D147638B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732" y="1958982"/>
            <a:ext cx="7098536" cy="2940035"/>
          </a:xfrm>
        </p:spPr>
        <p:txBody>
          <a:bodyPr numCol="1" anchor="t">
            <a:normAutofit/>
          </a:bodyPr>
          <a:lstStyle/>
          <a:p>
            <a:pPr>
              <a:lnSpc>
                <a:spcPct val="100000"/>
              </a:lnSpc>
            </a:pP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9D1C4D-06BA-C44E-2EA9-7615ABEC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6AD1F-23F4-773A-12C0-2659BB03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6ECACA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Statistics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CF97F1-1672-9F4C-0109-58413FC4BE61}"/>
              </a:ext>
            </a:extLst>
          </p:cNvPr>
          <p:cNvSpPr txBox="1">
            <a:spLocks/>
          </p:cNvSpPr>
          <p:nvPr/>
        </p:nvSpPr>
        <p:spPr>
          <a:xfrm>
            <a:off x="334861" y="607002"/>
            <a:ext cx="10515600" cy="623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Inferential Statistics -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Probability Distributions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5516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746</Words>
  <Application>Microsoft Office PowerPoint</Application>
  <PresentationFormat>Widescreen</PresentationFormat>
  <Paragraphs>230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Microsoft Sans Serif</vt:lpstr>
      <vt:lpstr>Times New Roman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Descriptive Statistics - Basic Concepts</vt:lpstr>
      <vt:lpstr>Descriptive Statistics - Univariate Data Visualization</vt:lpstr>
      <vt:lpstr>Descriptive Statistics - Histogram</vt:lpstr>
      <vt:lpstr>Descriptive Statistics - Univariate Data Measures</vt:lpstr>
      <vt:lpstr>Descriptive Statistics - Bivariate Data Visualization</vt:lpstr>
      <vt:lpstr>Descriptive Statistics - Bivariate Data Measures</vt:lpstr>
      <vt:lpstr>P-Value</vt:lpstr>
      <vt:lpstr>Descriptive Statistics - Regression Analysis</vt:lpstr>
      <vt:lpstr>Descriptive Statistics – ROC Analysis</vt:lpstr>
      <vt:lpstr>PowerPoint Presentation</vt:lpstr>
      <vt:lpstr>Inferential Statistics - Basic Concepts</vt:lpstr>
      <vt:lpstr>Inferential Statistics - Parametric Hypothesis Testing</vt:lpstr>
      <vt:lpstr>Inferential Statistics - Non-Parametric Hypothesis Testing</vt:lpstr>
      <vt:lpstr>Inferential Statistics - Multiple and Multivariate Hypothesis Testing</vt:lpstr>
      <vt:lpstr>PowerPoint Presentation</vt:lpstr>
      <vt:lpstr>Inferential Statistics - Experimental Design and Sample Size Calculations</vt:lpstr>
      <vt:lpstr>Inferential Statistics - Statistical Shape Models (SSMs)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Tamas Publishing house</cp:lastModifiedBy>
  <cp:revision>70</cp:revision>
  <dcterms:created xsi:type="dcterms:W3CDTF">2024-03-14T08:07:38Z</dcterms:created>
  <dcterms:modified xsi:type="dcterms:W3CDTF">2024-12-10T08:54:57Z</dcterms:modified>
</cp:coreProperties>
</file>