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12" r:id="rId3"/>
    <p:sldId id="318" r:id="rId4"/>
    <p:sldId id="406" r:id="rId5"/>
    <p:sldId id="360" r:id="rId6"/>
    <p:sldId id="31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. Preface" id="{4BC8B2F5-A163-4457-A74A-1E8033B73C93}">
          <p14:sldIdLst>
            <p14:sldId id="312"/>
            <p14:sldId id="318"/>
            <p14:sldId id="406"/>
            <p14:sldId id="360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79B1-1B4C-668C-6A9B-12C0881E8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03870-B1E7-C093-6FE2-409CCAB9A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B8761-8C92-1824-9676-3A22D23C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36CCE-E8A4-22AA-70F6-1617B745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D8DAA-1CE6-049A-0DF4-51B45646C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7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11F4-B0F0-D9A2-5F94-A4A175A2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61F2-F3FC-FCA6-AB0E-97EB1D83E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4A4AA-09B6-5F7B-6377-1612D562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E50F9-B7A9-3594-BCD5-8924D88E2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182F5-B01C-E2A8-55FB-42613463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2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316F0-4AC4-9E36-227C-FACA13E4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382546-AA6F-27D5-9529-14CAB7CA5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6B656-18EE-0373-7FAA-8337C524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FC091-1619-EEE6-DA0E-0C6F128B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41372-E307-0F59-3746-11B24C0D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8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BF86-117E-E6D0-E5C7-C19D451D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33BFB-294D-08CC-0C06-1D5FCBE03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C5AD1-1FB7-9F68-2570-FE39D6157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6F38D-F909-AB91-7520-7753CFD09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B6F75-6396-1064-FB44-A6062A24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38586-20FE-ABEB-D3E5-A6C7BE71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6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2E36-5A2E-070C-DB5E-2E47CF939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505C3-6B40-4FCF-7203-D64580455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853FEE-77A4-BECB-E188-96415CE5E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091515-76E9-70C3-0331-C50429601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5470B-B630-3920-6F11-79AFA73FE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501CA5-819D-C0C8-A172-677CA8177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63635-B8AA-361C-B782-FF1E03D4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B749DD-5369-18A0-9047-B23158425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13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1F90-A86E-F9EC-CB1D-4D018D7D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0A4BC-5FEA-5C58-999F-D4C7CEDFC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D5A07-A659-4192-C57A-9009571C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4C52E-F305-B30B-7536-F0824C140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5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8547A8-0DA7-B0E1-466F-A211FBE3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4A83FA-63BC-99C9-6481-8067EE108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8BBB5-C5E8-5618-4010-6CC892E8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3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E10C7-1658-F5BA-E000-6C78BDA45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73600-EB53-A3FB-70B2-E14DAF83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D48C4-3C23-6881-DDB2-C2FE96460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78912-F553-9E91-24C0-8D41757F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F28B9-3A9F-5C45-91FB-168F18E23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E0AB6-3E0B-5BA3-5A50-97F9E574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2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B273-DE46-1ED2-FFDE-3F9CD1382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6757C-6704-C035-956A-74E25606EA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D5-8DA7-7A99-EBE6-AB69F2B6B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4D8BE-1F31-78E6-821F-139FDA3E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05EF6-518C-E032-7E6E-670015087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B8FC3-7AE2-3B79-341C-DED5F4FD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22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67B8-78DF-EC5B-2BD5-9E54AABD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DFC97-B592-CD38-2703-EBF2DE0BB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5B292-8FC7-F464-8F71-539393F8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E2F4E-A337-4728-8296-FDD012BB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10F51-3BD9-701F-9EB6-D586C061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8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AA2F1F-F90D-ED59-E492-6EBD2E139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BDD90-D0E3-22A5-D3C8-E12257204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2DC37-C91B-7F16-1F49-00458A92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FC08-CFB2-80C8-50D6-A1F0DB08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EF8CA-63BC-18DF-89E7-042DDDCF9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04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115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27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58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1143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86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838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892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528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03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836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8E9F4-8000-67F0-C281-28387BCF4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7DFFD-6391-38FE-F6CF-12CA05B83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7A75-DEAF-200F-0286-2597C563C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544B9-B1CB-44A4-BC48-AFE0D22F6FDC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07FC1-D891-F6C4-B215-EF2E437F6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E7AB7-3AF4-F176-565B-6A7EF7761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A6AE-5D5B-476C-980D-F979D097DC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5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5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.me/NeuroBME" TargetMode="External"/><Relationship Id="rId5" Type="http://schemas.openxmlformats.org/officeDocument/2006/relationships/image" Target="../media/image5.jpg"/><Relationship Id="rId4" Type="http://schemas.openxmlformats.org/officeDocument/2006/relationships/hyperlink" Target="mailto:soroushmirmobini@gmail.com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Relationship Id="rId4" Type="http://schemas.openxmlformats.org/officeDocument/2006/relationships/hyperlink" Target="https://www.elsevier.com/books-and-journals/book-companion/9780323857734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7EB6"/>
            </a:gs>
            <a:gs pos="100000">
              <a:srgbClr val="1180B6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062A138-351A-DBCA-42A6-015194C9BD17}"/>
              </a:ext>
            </a:extLst>
          </p:cNvPr>
          <p:cNvSpPr txBox="1"/>
          <p:nvPr/>
        </p:nvSpPr>
        <p:spPr>
          <a:xfrm>
            <a:off x="4932206" y="5100718"/>
            <a:ext cx="2109873" cy="870817"/>
          </a:xfrm>
          <a:prstGeom prst="rect">
            <a:avLst/>
          </a:prstGeom>
          <a:noFill/>
          <a:ln>
            <a:noFill/>
          </a:ln>
        </p:spPr>
        <p:txBody>
          <a:bodyPr wrap="non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Soroush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Mirmobini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2025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114E5A-04DF-D2FF-2F50-C1080122B583}"/>
              </a:ext>
            </a:extLst>
          </p:cNvPr>
          <p:cNvGrpSpPr/>
          <p:nvPr/>
        </p:nvGrpSpPr>
        <p:grpSpPr>
          <a:xfrm>
            <a:off x="1254034" y="1094883"/>
            <a:ext cx="9683932" cy="3487337"/>
            <a:chOff x="1254034" y="1094883"/>
            <a:chExt cx="9683932" cy="3487337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1F964EB0-E14F-CCCE-F33F-B21A688A8D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271" r="12615"/>
            <a:stretch/>
          </p:blipFill>
          <p:spPr>
            <a:xfrm>
              <a:off x="4328160" y="1094883"/>
              <a:ext cx="3317966" cy="3487337"/>
            </a:xfrm>
            <a:prstGeom prst="rect">
              <a:avLst/>
            </a:prstGeom>
            <a:solidFill>
              <a:srgbClr val="1180B6"/>
            </a:solidFill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5FE4A6-3735-7A09-E8A9-7288D101BF32}"/>
                </a:ext>
              </a:extLst>
            </p:cNvPr>
            <p:cNvSpPr txBox="1"/>
            <p:nvPr/>
          </p:nvSpPr>
          <p:spPr>
            <a:xfrm>
              <a:off x="1254034" y="3416243"/>
              <a:ext cx="307412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8FBF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Principles of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461161-E71F-E89A-68DB-B51B75B88041}"/>
                </a:ext>
              </a:extLst>
            </p:cNvPr>
            <p:cNvSpPr txBox="1"/>
            <p:nvPr/>
          </p:nvSpPr>
          <p:spPr>
            <a:xfrm>
              <a:off x="7646126" y="3436773"/>
              <a:ext cx="32918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CFD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Programming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CFDF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908BF58-C228-9FAC-BCBA-29287C35D7B1}"/>
              </a:ext>
            </a:extLst>
          </p:cNvPr>
          <p:cNvGrpSpPr/>
          <p:nvPr/>
        </p:nvGrpSpPr>
        <p:grpSpPr>
          <a:xfrm>
            <a:off x="696561" y="813145"/>
            <a:ext cx="1219948" cy="1442418"/>
            <a:chOff x="758631" y="479217"/>
            <a:chExt cx="1383956" cy="158916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A642522-2244-3884-4925-0068ECF01F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527" y="479217"/>
              <a:ext cx="1216164" cy="1216164"/>
            </a:xfrm>
            <a:prstGeom prst="ellipse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38BC90E-15C6-1525-3F53-AB9AB3193052}"/>
                </a:ext>
              </a:extLst>
            </p:cNvPr>
            <p:cNvSpPr txBox="1"/>
            <p:nvPr/>
          </p:nvSpPr>
          <p:spPr>
            <a:xfrm>
              <a:off x="758631" y="1695381"/>
              <a:ext cx="1383956" cy="37299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8FBFD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NeuroBME</a:t>
              </a:r>
              <a:endPara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srgbClr val="F8FBF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116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468">
              <a:srgbClr val="117EB6"/>
            </a:gs>
            <a:gs pos="98937">
              <a:srgbClr val="0C74AD"/>
            </a:gs>
            <a:gs pos="89000">
              <a:srgbClr val="0C7BB2"/>
            </a:gs>
            <a:gs pos="72000">
              <a:srgbClr val="0C79B0"/>
            </a:gs>
            <a:gs pos="21000">
              <a:srgbClr val="1180B6"/>
            </a:gs>
            <a:gs pos="0">
              <a:srgbClr val="0C73AC"/>
            </a:gs>
            <a:gs pos="49000">
              <a:srgbClr val="1180B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B19DAFAE-BDC3-0F59-75C6-4098E0895F86}"/>
              </a:ext>
            </a:extLst>
          </p:cNvPr>
          <p:cNvGrpSpPr/>
          <p:nvPr/>
        </p:nvGrpSpPr>
        <p:grpSpPr>
          <a:xfrm>
            <a:off x="6003991" y="3130610"/>
            <a:ext cx="4763058" cy="596780"/>
            <a:chOff x="4451036" y="5423863"/>
            <a:chExt cx="4820319" cy="59678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54CAEC-2DA5-78EC-71B0-F8EB18A94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1036" y="5423863"/>
              <a:ext cx="596779" cy="59678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6E731D-9E45-5574-EA9F-6827EEA6C4FB}"/>
                </a:ext>
              </a:extLst>
            </p:cNvPr>
            <p:cNvSpPr txBox="1"/>
            <p:nvPr/>
          </p:nvSpPr>
          <p:spPr>
            <a:xfrm>
              <a:off x="5223456" y="5491420"/>
              <a:ext cx="4047899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https://t.me/soroushmirmobini</a:t>
              </a:r>
              <a:endPara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38540A-2CAA-1E6F-2858-303111D9D5FE}"/>
              </a:ext>
            </a:extLst>
          </p:cNvPr>
          <p:cNvGrpSpPr/>
          <p:nvPr/>
        </p:nvGrpSpPr>
        <p:grpSpPr>
          <a:xfrm>
            <a:off x="6003991" y="5010552"/>
            <a:ext cx="4763067" cy="461666"/>
            <a:chOff x="4343248" y="5079391"/>
            <a:chExt cx="4185952" cy="46166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F7FA58-128A-0D2B-436C-2409838F0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3248" y="5079392"/>
              <a:ext cx="596780" cy="46166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305D4BB-D802-7C00-AFC8-6F3095B2E4CE}"/>
                </a:ext>
              </a:extLst>
            </p:cNvPr>
            <p:cNvSpPr txBox="1"/>
            <p:nvPr/>
          </p:nvSpPr>
          <p:spPr>
            <a:xfrm>
              <a:off x="5014021" y="5079391"/>
              <a:ext cx="3515179" cy="46166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soroushmirmobini@gmail.com</a:t>
              </a:r>
              <a:endParaRPr kumimoji="0" lang="fa-I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1BE057-2B1F-5A8F-252C-F75E9EC89445}"/>
              </a:ext>
            </a:extLst>
          </p:cNvPr>
          <p:cNvSpPr txBox="1"/>
          <p:nvPr/>
        </p:nvSpPr>
        <p:spPr>
          <a:xfrm>
            <a:off x="7398353" y="963991"/>
            <a:ext cx="1779653" cy="70788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Contact</a:t>
            </a:r>
            <a:endParaRPr kumimoji="0" lang="fa-IR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DD2CDD-FC47-2F06-B0A1-6F2E0CDE4C5B}"/>
              </a:ext>
            </a:extLst>
          </p:cNvPr>
          <p:cNvSpPr txBox="1"/>
          <p:nvPr/>
        </p:nvSpPr>
        <p:spPr>
          <a:xfrm>
            <a:off x="2409202" y="963991"/>
            <a:ext cx="18934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Channel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2A1C99-7AC4-BE6A-995D-8C20B03874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9" t="25585" r="17720" b="24804"/>
          <a:stretch/>
        </p:blipFill>
        <p:spPr>
          <a:xfrm>
            <a:off x="1977081" y="1965851"/>
            <a:ext cx="2797018" cy="4110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4D5603-9F83-CBA6-288A-BC9E17276E2E}"/>
              </a:ext>
            </a:extLst>
          </p:cNvPr>
          <p:cNvSpPr txBox="1"/>
          <p:nvPr/>
        </p:nvSpPr>
        <p:spPr>
          <a:xfrm>
            <a:off x="2466507" y="5799044"/>
            <a:ext cx="17788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84D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6"/>
              </a:rPr>
              <a:t>https://t.me/NeuroBME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F84D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1847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468">
              <a:srgbClr val="117EB6"/>
            </a:gs>
            <a:gs pos="98937">
              <a:srgbClr val="0C74AD"/>
            </a:gs>
            <a:gs pos="89000">
              <a:srgbClr val="0C7BB2"/>
            </a:gs>
            <a:gs pos="72000">
              <a:srgbClr val="0C79B0"/>
            </a:gs>
            <a:gs pos="21000">
              <a:srgbClr val="1180B6"/>
            </a:gs>
            <a:gs pos="0">
              <a:srgbClr val="0C73AC"/>
            </a:gs>
            <a:gs pos="49000">
              <a:srgbClr val="1180B6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972D-D9D1-64F4-4D60-1F5B7EB3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6C8FDE1-83D6-762F-4207-2121A81D9966}"/>
              </a:ext>
            </a:extLst>
          </p:cNvPr>
          <p:cNvGrpSpPr/>
          <p:nvPr/>
        </p:nvGrpSpPr>
        <p:grpSpPr>
          <a:xfrm>
            <a:off x="4368566" y="639134"/>
            <a:ext cx="3553602" cy="4871846"/>
            <a:chOff x="4368566" y="639134"/>
            <a:chExt cx="3553602" cy="487184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4179AA9-9E54-F985-361C-E6E1BC7BD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68566" y="1347020"/>
              <a:ext cx="3454868" cy="416396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70BF95D-0097-3506-DB85-16D7F2E00D69}"/>
                </a:ext>
              </a:extLst>
            </p:cNvPr>
            <p:cNvSpPr txBox="1"/>
            <p:nvPr/>
          </p:nvSpPr>
          <p:spPr>
            <a:xfrm>
              <a:off x="4368566" y="639134"/>
              <a:ext cx="355360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Telegram Group</a:t>
              </a:r>
              <a:endPara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849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7EB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23176-F67A-46F3-52CE-ED7DF4D9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84FE4-C564-9AD9-0F8E-9B4FF5CC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572" y="139682"/>
            <a:ext cx="1924855" cy="553428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Reference</a:t>
            </a:r>
            <a:endParaRPr lang="fa-IR" sz="3200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AutoShape 4" descr="MATLAB Programming for Biomedical Engineers and Scientists - 2nd Edition |  Elsevier Shop">
            <a:extLst>
              <a:ext uri="{FF2B5EF4-FFF2-40B4-BE49-F238E27FC236}">
                <a16:creationId xmlns:a16="http://schemas.microsoft.com/office/drawing/2014/main" id="{AC03AC48-0A97-4ED7-57DB-266C63AD15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77FCD24-A355-A189-66FA-B3798DDAE428}"/>
              </a:ext>
            </a:extLst>
          </p:cNvPr>
          <p:cNvGrpSpPr/>
          <p:nvPr/>
        </p:nvGrpSpPr>
        <p:grpSpPr>
          <a:xfrm>
            <a:off x="1548970" y="925528"/>
            <a:ext cx="9094059" cy="5661856"/>
            <a:chOff x="1101189" y="151979"/>
            <a:chExt cx="9989621" cy="62854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5BD078-38F0-41E6-4091-786D16BC0370}"/>
                </a:ext>
              </a:extLst>
            </p:cNvPr>
            <p:cNvGrpSpPr/>
            <p:nvPr/>
          </p:nvGrpSpPr>
          <p:grpSpPr>
            <a:xfrm>
              <a:off x="1101189" y="151979"/>
              <a:ext cx="9989621" cy="5938490"/>
              <a:chOff x="1081052" y="869806"/>
              <a:chExt cx="9989621" cy="5938490"/>
            </a:xfrm>
          </p:grpSpPr>
          <p:pic>
            <p:nvPicPr>
              <p:cNvPr id="1026" name="Picture 2" descr="MATLAB Programming for Biomedical Engineers and Scientists: Andrew P. King,  Paul Aljabar: 9780128122037: Amazon.com: Books">
                <a:extLst>
                  <a:ext uri="{FF2B5EF4-FFF2-40B4-BE49-F238E27FC236}">
                    <a16:creationId xmlns:a16="http://schemas.microsoft.com/office/drawing/2014/main" id="{EA87FCAA-988D-F618-E637-EB9B75ACB8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1052" y="869807"/>
                <a:ext cx="4822272" cy="59384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0" name="Picture 6" descr="Buy MATLAB PROGRAMMING FOR BIOMEDICAL ENGINEERS AND SCIENTISTS, 2ND EDITION  - Book Online at Low Prices in India | MATLAB PROGRAMMING FOR BIOMEDICAL  ENGINEERS AND SCIENTISTS, 2ND EDITION - Reviews &amp; Ratings - Amazon.in">
                <a:extLst>
                  <a:ext uri="{FF2B5EF4-FFF2-40B4-BE49-F238E27FC236}">
                    <a16:creationId xmlns:a16="http://schemas.microsoft.com/office/drawing/2014/main" id="{A45552BD-88E5-D40D-9120-7872BAAFEA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48400" y="869806"/>
                <a:ext cx="4822273" cy="59384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EB30579-7DD2-39E7-2EBB-C1E1B05FE525}"/>
                </a:ext>
              </a:extLst>
            </p:cNvPr>
            <p:cNvSpPr txBox="1"/>
            <p:nvPr/>
          </p:nvSpPr>
          <p:spPr>
            <a:xfrm>
              <a:off x="2568571" y="6095706"/>
              <a:ext cx="6709781" cy="3416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https://www.elsevier.com/books-and-journals/book-companion/9780323857734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226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117EB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9315-364B-B508-0DCB-0CF125F5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809" y="240627"/>
            <a:ext cx="3548382" cy="58603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Table of Contents</a:t>
            </a:r>
            <a:endParaRPr lang="fa-IR" sz="3600" dirty="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AF319E-381C-ECBF-1382-BE71C88B4745}"/>
              </a:ext>
            </a:extLst>
          </p:cNvPr>
          <p:cNvSpPr/>
          <p:nvPr/>
        </p:nvSpPr>
        <p:spPr>
          <a:xfrm>
            <a:off x="1138186" y="1223290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117E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00C96A2-3350-DDA4-03CD-F2F8DF5EB021}"/>
              </a:ext>
            </a:extLst>
          </p:cNvPr>
          <p:cNvSpPr/>
          <p:nvPr/>
        </p:nvSpPr>
        <p:spPr>
          <a:xfrm>
            <a:off x="3276614" y="1569213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1781B8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F4BFBE8-EA3B-F02F-A90C-618670CC1B88}"/>
              </a:ext>
            </a:extLst>
          </p:cNvPr>
          <p:cNvSpPr/>
          <p:nvPr/>
        </p:nvSpPr>
        <p:spPr>
          <a:xfrm>
            <a:off x="3889839" y="1223290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117EB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to Computer Programming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453D50F-A07B-8370-6010-AC0A90266CB0}"/>
              </a:ext>
            </a:extLst>
          </p:cNvPr>
          <p:cNvSpPr/>
          <p:nvPr/>
        </p:nvSpPr>
        <p:spPr>
          <a:xfrm>
            <a:off x="6028267" y="1569213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E8D463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314D4EA-0B41-BB48-1810-87D43ADDBF3C}"/>
              </a:ext>
            </a:extLst>
          </p:cNvPr>
          <p:cNvSpPr/>
          <p:nvPr/>
        </p:nvSpPr>
        <p:spPr>
          <a:xfrm>
            <a:off x="6641492" y="1223290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EDD86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Introduction to MATLAB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15167C-915A-0EF3-181D-73B77C0DC994}"/>
              </a:ext>
            </a:extLst>
          </p:cNvPr>
          <p:cNvSpPr/>
          <p:nvPr/>
        </p:nvSpPr>
        <p:spPr>
          <a:xfrm>
            <a:off x="8779920" y="1569213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90D364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86AE068-D648-AAA0-AE54-88355232F25B}"/>
              </a:ext>
            </a:extLst>
          </p:cNvPr>
          <p:cNvSpPr/>
          <p:nvPr/>
        </p:nvSpPr>
        <p:spPr>
          <a:xfrm>
            <a:off x="9393145" y="1223290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6FB24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Arrays &amp; Linear Algebra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51679C6-746D-AF06-EB8D-780A5AB5BEE9}"/>
              </a:ext>
            </a:extLst>
          </p:cNvPr>
          <p:cNvSpPr/>
          <p:nvPr/>
        </p:nvSpPr>
        <p:spPr>
          <a:xfrm>
            <a:off x="10132160" y="2575531"/>
            <a:ext cx="487436" cy="416679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333342" y="1"/>
                </a:moveTo>
                <a:lnTo>
                  <a:pt x="333342" y="243718"/>
                </a:lnTo>
                <a:lnTo>
                  <a:pt x="416678" y="243717"/>
                </a:lnTo>
                <a:lnTo>
                  <a:pt x="208339" y="487434"/>
                </a:lnTo>
                <a:lnTo>
                  <a:pt x="0" y="243718"/>
                </a:lnTo>
                <a:lnTo>
                  <a:pt x="83336" y="243718"/>
                </a:lnTo>
                <a:lnTo>
                  <a:pt x="83336" y="1"/>
                </a:lnTo>
                <a:lnTo>
                  <a:pt x="333342" y="1"/>
                </a:lnTo>
                <a:close/>
              </a:path>
            </a:pathLst>
          </a:custGeom>
          <a:solidFill>
            <a:srgbClr val="D8ACD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488" tIns="1" rIns="97487" bIns="125003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79FF9FE-A99F-0196-DAB0-A69E8B08F691}"/>
              </a:ext>
            </a:extLst>
          </p:cNvPr>
          <p:cNvSpPr/>
          <p:nvPr/>
        </p:nvSpPr>
        <p:spPr>
          <a:xfrm>
            <a:off x="9393145" y="3188757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DCAED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Control Structures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6373FB4-7B38-0757-E56B-FCE8F380B47A}"/>
              </a:ext>
            </a:extLst>
          </p:cNvPr>
          <p:cNvSpPr/>
          <p:nvPr/>
        </p:nvSpPr>
        <p:spPr>
          <a:xfrm>
            <a:off x="8803505" y="3534678"/>
            <a:ext cx="416678" cy="487436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416678" y="389948"/>
                </a:moveTo>
                <a:lnTo>
                  <a:pt x="208339" y="389948"/>
                </a:lnTo>
                <a:lnTo>
                  <a:pt x="208339" y="487435"/>
                </a:lnTo>
                <a:lnTo>
                  <a:pt x="0" y="243717"/>
                </a:lnTo>
                <a:lnTo>
                  <a:pt x="208339" y="0"/>
                </a:lnTo>
                <a:lnTo>
                  <a:pt x="208339" y="97487"/>
                </a:lnTo>
                <a:lnTo>
                  <a:pt x="416678" y="97487"/>
                </a:lnTo>
                <a:lnTo>
                  <a:pt x="416678" y="389948"/>
                </a:lnTo>
                <a:close/>
              </a:path>
            </a:pathLst>
          </a:custGeom>
          <a:solidFill>
            <a:srgbClr val="B0A8D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003" tIns="97488" rIns="0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1A78631-1574-EE7D-1924-72F863A5524A}"/>
              </a:ext>
            </a:extLst>
          </p:cNvPr>
          <p:cNvSpPr/>
          <p:nvPr/>
        </p:nvSpPr>
        <p:spPr>
          <a:xfrm>
            <a:off x="6641492" y="3188757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B2AAD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CA615E5-9168-935F-BE9D-3572302A17B1}"/>
              </a:ext>
            </a:extLst>
          </p:cNvPr>
          <p:cNvSpPr/>
          <p:nvPr/>
        </p:nvSpPr>
        <p:spPr>
          <a:xfrm>
            <a:off x="6051852" y="3534678"/>
            <a:ext cx="416679" cy="487436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416678" y="389948"/>
                </a:moveTo>
                <a:lnTo>
                  <a:pt x="208339" y="389948"/>
                </a:lnTo>
                <a:lnTo>
                  <a:pt x="208339" y="487435"/>
                </a:lnTo>
                <a:lnTo>
                  <a:pt x="0" y="243717"/>
                </a:lnTo>
                <a:lnTo>
                  <a:pt x="208339" y="0"/>
                </a:lnTo>
                <a:lnTo>
                  <a:pt x="208339" y="97487"/>
                </a:lnTo>
                <a:lnTo>
                  <a:pt x="416678" y="97487"/>
                </a:lnTo>
                <a:lnTo>
                  <a:pt x="416678" y="389948"/>
                </a:lnTo>
                <a:close/>
              </a:path>
            </a:pathLst>
          </a:custGeom>
          <a:solidFill>
            <a:srgbClr val="FA866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003" tIns="97488" rIns="1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051B6F4-00BD-559D-EBB4-111CA5569614}"/>
              </a:ext>
            </a:extLst>
          </p:cNvPr>
          <p:cNvSpPr/>
          <p:nvPr/>
        </p:nvSpPr>
        <p:spPr>
          <a:xfrm>
            <a:off x="3889839" y="3188757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FF876E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Text and Files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D8BC020-9478-4487-A061-246200B2E773}"/>
              </a:ext>
            </a:extLst>
          </p:cNvPr>
          <p:cNvSpPr/>
          <p:nvPr/>
        </p:nvSpPr>
        <p:spPr>
          <a:xfrm>
            <a:off x="1877201" y="4540998"/>
            <a:ext cx="487436" cy="416679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333342" y="1"/>
                </a:moveTo>
                <a:lnTo>
                  <a:pt x="333342" y="243718"/>
                </a:lnTo>
                <a:lnTo>
                  <a:pt x="416678" y="243717"/>
                </a:lnTo>
                <a:lnTo>
                  <a:pt x="208339" y="487434"/>
                </a:lnTo>
                <a:lnTo>
                  <a:pt x="0" y="243718"/>
                </a:lnTo>
                <a:lnTo>
                  <a:pt x="83336" y="243718"/>
                </a:lnTo>
                <a:lnTo>
                  <a:pt x="83336" y="1"/>
                </a:lnTo>
                <a:lnTo>
                  <a:pt x="333342" y="1"/>
                </a:lnTo>
                <a:close/>
              </a:path>
            </a:pathLst>
          </a:custGeom>
          <a:solidFill>
            <a:srgbClr val="EAD8F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7488" tIns="1" rIns="97487" bIns="125003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24F43AA-88E3-3A75-C5AA-D2E36BBE3AE0}"/>
              </a:ext>
            </a:extLst>
          </p:cNvPr>
          <p:cNvSpPr/>
          <p:nvPr/>
        </p:nvSpPr>
        <p:spPr>
          <a:xfrm>
            <a:off x="1138186" y="5154224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F0DCFF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Solving Equations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2E442F2-274E-18E5-FB0C-1ACE63A16E9D}"/>
              </a:ext>
            </a:extLst>
          </p:cNvPr>
          <p:cNvSpPr/>
          <p:nvPr/>
        </p:nvSpPr>
        <p:spPr>
          <a:xfrm>
            <a:off x="3276614" y="5500146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6FC6C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91BC32E-270D-5F9F-A480-87C11E7C25C5}"/>
              </a:ext>
            </a:extLst>
          </p:cNvPr>
          <p:cNvSpPr/>
          <p:nvPr/>
        </p:nvSpPr>
        <p:spPr>
          <a:xfrm>
            <a:off x="3889839" y="5154224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6ECAC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Statistics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248E5D-1D51-A66A-2DF3-2E18E4DF54D4}"/>
              </a:ext>
            </a:extLst>
          </p:cNvPr>
          <p:cNvSpPr/>
          <p:nvPr/>
        </p:nvSpPr>
        <p:spPr>
          <a:xfrm>
            <a:off x="6028267" y="5500146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CEE68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6F758A0-9C1C-AA17-360E-7490F9C24475}"/>
              </a:ext>
            </a:extLst>
          </p:cNvPr>
          <p:cNvSpPr/>
          <p:nvPr/>
        </p:nvSpPr>
        <p:spPr>
          <a:xfrm>
            <a:off x="6641492" y="5154224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D2EC8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Supplementary Topics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133D274-AD0C-40F7-C1E2-C7A3D0C79A65}"/>
              </a:ext>
            </a:extLst>
          </p:cNvPr>
          <p:cNvSpPr/>
          <p:nvPr/>
        </p:nvSpPr>
        <p:spPr>
          <a:xfrm>
            <a:off x="8779920" y="5500146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0" y="97487"/>
                </a:moveTo>
                <a:lnTo>
                  <a:pt x="208339" y="97487"/>
                </a:lnTo>
                <a:lnTo>
                  <a:pt x="208339" y="0"/>
                </a:lnTo>
                <a:lnTo>
                  <a:pt x="416678" y="243718"/>
                </a:lnTo>
                <a:lnTo>
                  <a:pt x="208339" y="487435"/>
                </a:lnTo>
                <a:lnTo>
                  <a:pt x="208339" y="389948"/>
                </a:lnTo>
                <a:lnTo>
                  <a:pt x="0" y="389948"/>
                </a:lnTo>
                <a:lnTo>
                  <a:pt x="0" y="97487"/>
                </a:lnTo>
                <a:close/>
              </a:path>
            </a:pathLst>
          </a:custGeom>
          <a:solidFill>
            <a:srgbClr val="982D2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97487" rIns="125003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808C9D-7C42-33CB-EB5C-545DFADFAB68}"/>
              </a:ext>
            </a:extLst>
          </p:cNvPr>
          <p:cNvSpPr/>
          <p:nvPr/>
        </p:nvSpPr>
        <p:spPr>
          <a:xfrm>
            <a:off x="9393145" y="5154224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9A281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4" name="AutoShape 4" descr="MATLAB Programming for Biomedical Engineers and Scientists - 2nd Edition |  Elsevier Shop">
            <a:extLst>
              <a:ext uri="{FF2B5EF4-FFF2-40B4-BE49-F238E27FC236}">
                <a16:creationId xmlns:a16="http://schemas.microsoft.com/office/drawing/2014/main" id="{0E471B72-DC4A-E3C3-67EE-A7980C2080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525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4820BE2-43D5-B17F-B84A-B3CAC3528EA5}"/>
              </a:ext>
            </a:extLst>
          </p:cNvPr>
          <p:cNvSpPr/>
          <p:nvPr/>
        </p:nvSpPr>
        <p:spPr>
          <a:xfrm>
            <a:off x="3300199" y="3534678"/>
            <a:ext cx="416678" cy="487435"/>
          </a:xfrm>
          <a:custGeom>
            <a:avLst/>
            <a:gdLst>
              <a:gd name="connsiteX0" fmla="*/ 0 w 416678"/>
              <a:gd name="connsiteY0" fmla="*/ 97487 h 487435"/>
              <a:gd name="connsiteX1" fmla="*/ 208339 w 416678"/>
              <a:gd name="connsiteY1" fmla="*/ 97487 h 487435"/>
              <a:gd name="connsiteX2" fmla="*/ 208339 w 416678"/>
              <a:gd name="connsiteY2" fmla="*/ 0 h 487435"/>
              <a:gd name="connsiteX3" fmla="*/ 416678 w 416678"/>
              <a:gd name="connsiteY3" fmla="*/ 243718 h 487435"/>
              <a:gd name="connsiteX4" fmla="*/ 208339 w 416678"/>
              <a:gd name="connsiteY4" fmla="*/ 487435 h 487435"/>
              <a:gd name="connsiteX5" fmla="*/ 208339 w 416678"/>
              <a:gd name="connsiteY5" fmla="*/ 389948 h 487435"/>
              <a:gd name="connsiteX6" fmla="*/ 0 w 416678"/>
              <a:gd name="connsiteY6" fmla="*/ 389948 h 487435"/>
              <a:gd name="connsiteX7" fmla="*/ 0 w 416678"/>
              <a:gd name="connsiteY7" fmla="*/ 97487 h 48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6678" h="487435">
                <a:moveTo>
                  <a:pt x="416678" y="389948"/>
                </a:moveTo>
                <a:lnTo>
                  <a:pt x="208339" y="389948"/>
                </a:lnTo>
                <a:lnTo>
                  <a:pt x="208339" y="487435"/>
                </a:lnTo>
                <a:lnTo>
                  <a:pt x="0" y="243717"/>
                </a:lnTo>
                <a:lnTo>
                  <a:pt x="208339" y="0"/>
                </a:lnTo>
                <a:lnTo>
                  <a:pt x="208339" y="97487"/>
                </a:lnTo>
                <a:lnTo>
                  <a:pt x="416678" y="97487"/>
                </a:lnTo>
                <a:lnTo>
                  <a:pt x="416678" y="389948"/>
                </a:lnTo>
                <a:close/>
              </a:path>
            </a:pathLst>
          </a:custGeom>
          <a:solidFill>
            <a:srgbClr val="B6E89A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6">
              <a:hueOff val="0"/>
              <a:satOff val="0"/>
              <a:lumOff val="0"/>
              <a:alphaOff val="0"/>
            </a:schemeClr>
          </a:fillRef>
          <a:effectRef idx="0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5003" tIns="97487" rIns="0" bIns="97487" numCol="1" spcCol="1270" anchor="ctr" anchorCtr="0">
            <a:noAutofit/>
          </a:bodyPr>
          <a:lstStyle/>
          <a:p>
            <a:pPr marL="0" marR="0" lvl="0" indent="0" algn="ctr" defTabSz="7556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700" b="1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B62A2AE-428C-B2DF-004C-71EC9FC40CD8}"/>
              </a:ext>
            </a:extLst>
          </p:cNvPr>
          <p:cNvSpPr/>
          <p:nvPr/>
        </p:nvSpPr>
        <p:spPr>
          <a:xfrm>
            <a:off x="1138186" y="3188757"/>
            <a:ext cx="1965466" cy="1179279"/>
          </a:xfrm>
          <a:custGeom>
            <a:avLst/>
            <a:gdLst>
              <a:gd name="connsiteX0" fmla="*/ 0 w 1965466"/>
              <a:gd name="connsiteY0" fmla="*/ 117928 h 1179279"/>
              <a:gd name="connsiteX1" fmla="*/ 117928 w 1965466"/>
              <a:gd name="connsiteY1" fmla="*/ 0 h 1179279"/>
              <a:gd name="connsiteX2" fmla="*/ 1847538 w 1965466"/>
              <a:gd name="connsiteY2" fmla="*/ 0 h 1179279"/>
              <a:gd name="connsiteX3" fmla="*/ 1965466 w 1965466"/>
              <a:gd name="connsiteY3" fmla="*/ 117928 h 1179279"/>
              <a:gd name="connsiteX4" fmla="*/ 1965466 w 1965466"/>
              <a:gd name="connsiteY4" fmla="*/ 1061351 h 1179279"/>
              <a:gd name="connsiteX5" fmla="*/ 1847538 w 1965466"/>
              <a:gd name="connsiteY5" fmla="*/ 1179279 h 1179279"/>
              <a:gd name="connsiteX6" fmla="*/ 117928 w 1965466"/>
              <a:gd name="connsiteY6" fmla="*/ 1179279 h 1179279"/>
              <a:gd name="connsiteX7" fmla="*/ 0 w 1965466"/>
              <a:gd name="connsiteY7" fmla="*/ 1061351 h 1179279"/>
              <a:gd name="connsiteX8" fmla="*/ 0 w 1965466"/>
              <a:gd name="connsiteY8" fmla="*/ 117928 h 117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65466" h="1179279">
                <a:moveTo>
                  <a:pt x="0" y="117928"/>
                </a:moveTo>
                <a:cubicBezTo>
                  <a:pt x="0" y="52798"/>
                  <a:pt x="52798" y="0"/>
                  <a:pt x="117928" y="0"/>
                </a:cubicBezTo>
                <a:lnTo>
                  <a:pt x="1847538" y="0"/>
                </a:lnTo>
                <a:cubicBezTo>
                  <a:pt x="1912668" y="0"/>
                  <a:pt x="1965466" y="52798"/>
                  <a:pt x="1965466" y="117928"/>
                </a:cubicBezTo>
                <a:lnTo>
                  <a:pt x="1965466" y="1061351"/>
                </a:lnTo>
                <a:cubicBezTo>
                  <a:pt x="1965466" y="1126481"/>
                  <a:pt x="1912668" y="1179279"/>
                  <a:pt x="1847538" y="1179279"/>
                </a:cubicBezTo>
                <a:lnTo>
                  <a:pt x="117928" y="1179279"/>
                </a:lnTo>
                <a:cubicBezTo>
                  <a:pt x="52798" y="1179279"/>
                  <a:pt x="0" y="1126481"/>
                  <a:pt x="0" y="1061351"/>
                </a:cubicBezTo>
                <a:lnTo>
                  <a:pt x="0" y="117928"/>
                </a:lnTo>
                <a:close/>
              </a:path>
            </a:pathLst>
          </a:custGeom>
          <a:solidFill>
            <a:srgbClr val="B8ED9B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4550" tIns="114550" rIns="114550" bIns="114550" numCol="1" spcCol="1270" anchor="ctr" anchorCtr="0">
            <a:noAutofit/>
          </a:bodyPr>
          <a:lstStyle/>
          <a:p>
            <a:pPr marL="0" marR="0" lvl="0" indent="0" algn="ctr" defTabSz="9334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91709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9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500"/>
                            </p:stCondLst>
                            <p:childTnLst>
                              <p:par>
                                <p:cTn id="9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Reference</vt:lpstr>
      <vt:lpstr>Table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 Publishing house</dc:creator>
  <cp:lastModifiedBy>soroush mirmobini</cp:lastModifiedBy>
  <cp:revision>5</cp:revision>
  <dcterms:created xsi:type="dcterms:W3CDTF">2024-09-18T09:46:20Z</dcterms:created>
  <dcterms:modified xsi:type="dcterms:W3CDTF">2025-09-06T15:51:16Z</dcterms:modified>
</cp:coreProperties>
</file>